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Авто</c:v>
                </c:pt>
              </c:strCache>
            </c:strRef>
          </c:tx>
          <c:dPt>
            <c:idx val="0"/>
            <c:spPr>
              <a:solidFill>
                <a:srgbClr val="05141F"/>
              </a:solidFill>
            </c:spPr>
          </c:dPt>
          <c:dPt>
            <c:idx val="1"/>
            <c:spPr>
              <a:solidFill>
                <a:srgbClr val="B51222"/>
              </a:solidFill>
            </c:spPr>
          </c:dPt>
          <c:dPt>
            <c:idx val="2"/>
            <c:spPr>
              <a:solidFill>
                <a:srgbClr val="00529B"/>
              </a:solidFill>
            </c:spPr>
          </c:dPt>
          <c:dPt>
            <c:idx val="3"/>
            <c:spPr>
              <a:solidFill>
                <a:srgbClr val="006E42"/>
              </a:solidFill>
            </c:spPr>
          </c:dPt>
          <c:dPt>
            <c:idx val="4"/>
            <c:spPr>
              <a:solidFill>
                <a:srgbClr val="3A75C4"/>
              </a:solidFill>
            </c:spPr>
          </c:dPt>
          <c:dPt>
            <c:idx val="5"/>
            <c:spPr>
              <a:solidFill>
                <a:srgbClr val="8B5500"/>
              </a:solidFill>
            </c:spPr>
          </c:dPt>
          <c:cat>
            <c:strRef>
              <c:f>Sheet1!$A$2:$A$7</c:f>
              <c:strCache>
                <c:ptCount val="6"/>
                <c:pt idx="0">
                  <c:v>KIA</c:v>
                </c:pt>
                <c:pt idx="1">
                  <c:v>Chevrolet</c:v>
                </c:pt>
                <c:pt idx="2">
                  <c:v>JAC</c:v>
                </c:pt>
                <c:pt idx="3">
                  <c:v>JETOUR</c:v>
                </c:pt>
                <c:pt idx="4">
                  <c:v>Skoda</c:v>
                </c:pt>
                <c:pt idx="5">
                  <c:v>Soueast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408</c:v>
                </c:pt>
                <c:pt idx="1">
                  <c:v>1787</c:v>
                </c:pt>
                <c:pt idx="2">
                  <c:v>88</c:v>
                </c:pt>
                <c:pt idx="3">
                  <c:v>343</c:v>
                </c:pt>
                <c:pt idx="4">
                  <c:v>3</c:v>
                </c:pt>
                <c:pt idx="5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900"/>
              <a:t>Кол-во авто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Авто</c:v>
                </c:pt>
              </c:strCache>
            </c:strRef>
          </c:tx>
          <c:dPt>
            <c:idx val="0"/>
            <c:spPr>
              <a:solidFill>
                <a:srgbClr val="0078D4"/>
              </a:solidFill>
            </c:spPr>
          </c:dPt>
          <c:dPt>
            <c:idx val="1"/>
            <c:spPr>
              <a:solidFill>
                <a:srgbClr val="1A457B"/>
              </a:solidFill>
            </c:spPr>
          </c:dPt>
          <c:dPt>
            <c:idx val="2"/>
            <c:spPr>
              <a:solidFill>
                <a:srgbClr val="1A457B"/>
              </a:solidFill>
            </c:spPr>
          </c:dPt>
          <c:dPt>
            <c:idx val="3"/>
            <c:spPr>
              <a:solidFill>
                <a:srgbClr val="1A457B"/>
              </a:solidFill>
            </c:spPr>
          </c:dPt>
          <c:dPt>
            <c:idx val="4"/>
            <c:spPr>
              <a:solidFill>
                <a:srgbClr val="1A457B"/>
              </a:solidFill>
            </c:spPr>
          </c:dPt>
          <c:dPt>
            <c:idx val="5"/>
            <c:spPr>
              <a:solidFill>
                <a:srgbClr val="1A457B"/>
              </a:solidFill>
            </c:spPr>
          </c:dPt>
          <c:dPt>
            <c:idx val="6"/>
            <c:spPr>
              <a:solidFill>
                <a:srgbClr val="1A457B"/>
              </a:solidFill>
            </c:spPr>
          </c:dPt>
          <c:dPt>
            <c:idx val="7"/>
            <c:spPr>
              <a:solidFill>
                <a:srgbClr val="1A457B"/>
              </a:solidFill>
            </c:spPr>
          </c:dPt>
          <c:dPt>
            <c:idx val="8"/>
            <c:spPr>
              <a:solidFill>
                <a:srgbClr val="1A457B"/>
              </a:solidFill>
            </c:spPr>
          </c:dPt>
          <c:dPt>
            <c:idx val="9"/>
            <c:spPr>
              <a:solidFill>
                <a:srgbClr val="1A457B"/>
              </a:solidFill>
            </c:spPr>
          </c:dPt>
          <c:dPt>
            <c:idx val="10"/>
            <c:spPr>
              <a:solidFill>
                <a:srgbClr val="1A457B"/>
              </a:solidFill>
            </c:spPr>
          </c:dPt>
          <c:dPt>
            <c:idx val="11"/>
            <c:spPr>
              <a:solidFill>
                <a:srgbClr val="1A457B"/>
              </a:solidFill>
            </c:spPr>
          </c:dPt>
          <c:dPt>
            <c:idx val="12"/>
            <c:spPr>
              <a:solidFill>
                <a:srgbClr val="FFB900"/>
              </a:solidFill>
            </c:spPr>
          </c:dPt>
          <c:cat>
            <c:strRef>
              <c:f>Sheet1!$A$2:$A$14</c:f>
              <c:strCache>
                <c:ptCount val="13"/>
                <c:pt idx="0">
                  <c:v>Апр'25</c:v>
                </c:pt>
                <c:pt idx="1">
                  <c:v>Май'25</c:v>
                </c:pt>
                <c:pt idx="2">
                  <c:v>Июн'25</c:v>
                </c:pt>
                <c:pt idx="3">
                  <c:v>Июл'25</c:v>
                </c:pt>
                <c:pt idx="4">
                  <c:v>Авг'25</c:v>
                </c:pt>
                <c:pt idx="5">
                  <c:v>Сен'25</c:v>
                </c:pt>
                <c:pt idx="6">
                  <c:v>Окт'25</c:v>
                </c:pt>
                <c:pt idx="7">
                  <c:v>Ноя'25</c:v>
                </c:pt>
                <c:pt idx="8">
                  <c:v>Дек'25</c:v>
                </c:pt>
                <c:pt idx="9">
                  <c:v>Янв'26</c:v>
                </c:pt>
                <c:pt idx="10">
                  <c:v>Фев'26</c:v>
                </c:pt>
                <c:pt idx="11">
                  <c:v>Мар'26</c:v>
                </c:pt>
                <c:pt idx="12">
                  <c:v>Апр'26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1947</c:v>
                </c:pt>
                <c:pt idx="1">
                  <c:v>1836</c:v>
                </c:pt>
                <c:pt idx="2">
                  <c:v>2006</c:v>
                </c:pt>
                <c:pt idx="3">
                  <c:v>2391</c:v>
                </c:pt>
                <c:pt idx="4">
                  <c:v>1772</c:v>
                </c:pt>
                <c:pt idx="5">
                  <c:v>1835</c:v>
                </c:pt>
                <c:pt idx="6">
                  <c:v>1983</c:v>
                </c:pt>
                <c:pt idx="7">
                  <c:v>3886</c:v>
                </c:pt>
                <c:pt idx="8">
                  <c:v>2848</c:v>
                </c:pt>
                <c:pt idx="9">
                  <c:v>1809</c:v>
                </c:pt>
                <c:pt idx="10">
                  <c:v>1545</c:v>
                </c:pt>
                <c:pt idx="11">
                  <c:v>1505</c:v>
                </c:pt>
                <c:pt idx="12">
                  <c:v>2629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900"/>
              <a:t>Маржа, млн ₸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Маржа (млн ₸)</c:v>
                </c:pt>
              </c:strCache>
            </c:strRef>
          </c:tx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Апр'25</c:v>
                </c:pt>
                <c:pt idx="1">
                  <c:v>Май'25</c:v>
                </c:pt>
                <c:pt idx="2">
                  <c:v>Июн'25</c:v>
                </c:pt>
                <c:pt idx="3">
                  <c:v>Июл'25</c:v>
                </c:pt>
                <c:pt idx="4">
                  <c:v>Авг'25</c:v>
                </c:pt>
                <c:pt idx="5">
                  <c:v>Сен'25</c:v>
                </c:pt>
                <c:pt idx="6">
                  <c:v>Окт'25</c:v>
                </c:pt>
                <c:pt idx="7">
                  <c:v>Ноя'25</c:v>
                </c:pt>
                <c:pt idx="8">
                  <c:v>Дек'25</c:v>
                </c:pt>
                <c:pt idx="9">
                  <c:v>Янв'26</c:v>
                </c:pt>
                <c:pt idx="10">
                  <c:v>Фев'26</c:v>
                </c:pt>
                <c:pt idx="11">
                  <c:v>Мар'26</c:v>
                </c:pt>
                <c:pt idx="12">
                  <c:v>Апр'26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904.6</c:v>
                </c:pt>
                <c:pt idx="1">
                  <c:v>784.7</c:v>
                </c:pt>
                <c:pt idx="2">
                  <c:v>840.1</c:v>
                </c:pt>
                <c:pt idx="3">
                  <c:v>869.8</c:v>
                </c:pt>
                <c:pt idx="4">
                  <c:v>693.7</c:v>
                </c:pt>
                <c:pt idx="5">
                  <c:v>764.8</c:v>
                </c:pt>
                <c:pt idx="6">
                  <c:v>839.1</c:v>
                </c:pt>
                <c:pt idx="7">
                  <c:v>1394.8</c:v>
                </c:pt>
                <c:pt idx="8">
                  <c:v>1022.1</c:v>
                </c:pt>
                <c:pt idx="9">
                  <c:v>648.2</c:v>
                </c:pt>
                <c:pt idx="10">
                  <c:v>657.8</c:v>
                </c:pt>
                <c:pt idx="11">
                  <c:v>701.6</c:v>
                </c:pt>
                <c:pt idx="12">
                  <c:v>877.3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900"/>
              <a:t>Продажи по моделям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Авто</c:v>
                </c:pt>
              </c:strCache>
            </c:strRef>
          </c:tx>
          <c:spPr>
            <a:solidFill>
              <a:srgbClr val="05141F"/>
            </a:solidFill>
          </c:spPr>
          <c:cat>
            <c:strRef>
              <c:f>Sheet1!$A$2:$A$14</c:f>
              <c:strCache>
                <c:ptCount val="13"/>
                <c:pt idx="0">
                  <c:v>K5</c:v>
                </c:pt>
                <c:pt idx="1">
                  <c:v>Sportage</c:v>
                </c:pt>
                <c:pt idx="2">
                  <c:v>Sorento 2025</c:v>
                </c:pt>
                <c:pt idx="3">
                  <c:v>Cerato</c:v>
                </c:pt>
                <c:pt idx="4">
                  <c:v>Soluto</c:v>
                </c:pt>
                <c:pt idx="5">
                  <c:v>Seltos</c:v>
                </c:pt>
                <c:pt idx="6">
                  <c:v>Sorento 2026</c:v>
                </c:pt>
                <c:pt idx="7">
                  <c:v>Ceed SW</c:v>
                </c:pt>
                <c:pt idx="8">
                  <c:v>Carnival</c:v>
                </c:pt>
                <c:pt idx="9">
                  <c:v>Ceed</c:v>
                </c:pt>
                <c:pt idx="10">
                  <c:v>K8</c:v>
                </c:pt>
                <c:pt idx="11">
                  <c:v>Soul</c:v>
                </c:pt>
                <c:pt idx="12">
                  <c:v>Sportage C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91</c:v>
                </c:pt>
                <c:pt idx="1">
                  <c:v>93</c:v>
                </c:pt>
                <c:pt idx="2">
                  <c:v>61</c:v>
                </c:pt>
                <c:pt idx="3">
                  <c:v>48</c:v>
                </c:pt>
                <c:pt idx="4">
                  <c:v>38</c:v>
                </c:pt>
                <c:pt idx="5">
                  <c:v>26</c:v>
                </c:pt>
                <c:pt idx="6">
                  <c:v>11</c:v>
                </c:pt>
                <c:pt idx="7">
                  <c:v>10</c:v>
                </c:pt>
                <c:pt idx="8">
                  <c:v>3</c:v>
                </c:pt>
                <c:pt idx="9">
                  <c:v>6</c:v>
                </c:pt>
                <c:pt idx="10">
                  <c:v>1</c:v>
                </c:pt>
                <c:pt idx="11">
                  <c:v>4</c:v>
                </c:pt>
                <c:pt idx="12">
                  <c:v>16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900"/>
              <a:t>Доля моделей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Авто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Cobalt</c:v>
                </c:pt>
                <c:pt idx="1">
                  <c:v>Onix</c:v>
                </c:pt>
                <c:pt idx="2">
                  <c:v>Tahoe MY25</c:v>
                </c:pt>
                <c:pt idx="3">
                  <c:v>Tracker</c:v>
                </c:pt>
                <c:pt idx="4">
                  <c:v>Labo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1748</c:v>
                </c:pt>
                <c:pt idx="1">
                  <c:v>23</c:v>
                </c:pt>
                <c:pt idx="2">
                  <c:v>11</c:v>
                </c:pt>
                <c:pt idx="3">
                  <c:v>2</c:v>
                </c:pt>
                <c:pt idx="4">
                  <c:v>3</c:v>
                </c:pt>
              </c:numCache>
            </c:numRef>
          </c:val>
        </c:ser>
      </c:pieChart>
    </c:plotArea>
    <c:legend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900"/>
              <a:t>Авто по моделям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Авто</c:v>
                </c:pt>
              </c:strCache>
            </c:strRef>
          </c:tx>
          <c:spPr>
            <a:solidFill>
              <a:srgbClr val="00529B"/>
            </a:solidFill>
          </c:spPr>
          <c:cat>
            <c:strRef>
              <c:f>Sheet1!$A$2:$A$9</c:f>
              <c:strCache>
                <c:ptCount val="8"/>
                <c:pt idx="0">
                  <c:v>S3 Pro</c:v>
                </c:pt>
                <c:pt idx="1">
                  <c:v>J7</c:v>
                </c:pt>
                <c:pt idx="2">
                  <c:v>T9</c:v>
                </c:pt>
                <c:pt idx="3">
                  <c:v>JS8</c:v>
                </c:pt>
                <c:pt idx="4">
                  <c:v>JS4</c:v>
                </c:pt>
                <c:pt idx="5">
                  <c:v>T6</c:v>
                </c:pt>
                <c:pt idx="6">
                  <c:v>T8 Pro</c:v>
                </c:pt>
                <c:pt idx="7">
                  <c:v>J7 PLUS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40</c:v>
                </c:pt>
                <c:pt idx="1">
                  <c:v>18</c:v>
                </c:pt>
                <c:pt idx="2">
                  <c:v>9</c:v>
                </c:pt>
                <c:pt idx="3">
                  <c:v>7</c:v>
                </c:pt>
                <c:pt idx="4">
                  <c:v>5</c:v>
                </c:pt>
                <c:pt idx="5">
                  <c:v>5</c:v>
                </c:pt>
                <c:pt idx="6">
                  <c:v>2</c:v>
                </c:pt>
                <c:pt idx="7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900"/>
              <a:t>Ср. маржа ₸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Ср. маржа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S3 Pro</c:v>
                </c:pt>
                <c:pt idx="1">
                  <c:v>J7</c:v>
                </c:pt>
                <c:pt idx="2">
                  <c:v>T9</c:v>
                </c:pt>
                <c:pt idx="3">
                  <c:v>JS8</c:v>
                </c:pt>
                <c:pt idx="4">
                  <c:v>JS4</c:v>
                </c:pt>
                <c:pt idx="5">
                  <c:v>T6</c:v>
                </c:pt>
                <c:pt idx="6">
                  <c:v>T8 Pro</c:v>
                </c:pt>
                <c:pt idx="7">
                  <c:v>J7 PLUS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274200</c:v>
                </c:pt>
                <c:pt idx="1">
                  <c:v>311489</c:v>
                </c:pt>
                <c:pt idx="2">
                  <c:v>971756</c:v>
                </c:pt>
                <c:pt idx="3">
                  <c:v>475600</c:v>
                </c:pt>
                <c:pt idx="4">
                  <c:v>350000</c:v>
                </c:pt>
                <c:pt idx="5">
                  <c:v>513680</c:v>
                </c:pt>
                <c:pt idx="6">
                  <c:v>828700</c:v>
                </c:pt>
                <c:pt idx="7">
                  <c:v>411600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900"/>
              <a:t>Авто по моделям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Авто</c:v>
                </c:pt>
              </c:strCache>
            </c:strRef>
          </c:tx>
          <c:spPr>
            <a:solidFill>
              <a:srgbClr val="006E42"/>
            </a:solidFill>
          </c:spPr>
          <c:cat>
            <c:strRef>
              <c:f>Sheet1!$A$2:$A$9</c:f>
              <c:strCache>
                <c:ptCount val="8"/>
                <c:pt idx="0">
                  <c:v>X70FL</c:v>
                </c:pt>
                <c:pt idx="1">
                  <c:v>X50</c:v>
                </c:pt>
                <c:pt idx="2">
                  <c:v>X70Plus</c:v>
                </c:pt>
                <c:pt idx="3">
                  <c:v>T1</c:v>
                </c:pt>
                <c:pt idx="4">
                  <c:v>T2</c:v>
                </c:pt>
                <c:pt idx="5">
                  <c:v>X90Plus</c:v>
                </c:pt>
                <c:pt idx="6">
                  <c:v>Dashing</c:v>
                </c:pt>
                <c:pt idx="7">
                  <c:v>X70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125</c:v>
                </c:pt>
                <c:pt idx="1">
                  <c:v>84</c:v>
                </c:pt>
                <c:pt idx="2">
                  <c:v>49</c:v>
                </c:pt>
                <c:pt idx="3">
                  <c:v>30</c:v>
                </c:pt>
                <c:pt idx="4">
                  <c:v>29</c:v>
                </c:pt>
                <c:pt idx="5">
                  <c:v>16</c:v>
                </c:pt>
                <c:pt idx="6">
                  <c:v>9</c:v>
                </c:pt>
                <c:pt idx="7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/>
              <a:t>Средняя маржа по брендам, ₸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Ср. маржа ₸</c:v>
                </c:pt>
              </c:strCache>
            </c:strRef>
          </c:tx>
          <c:dPt>
            <c:idx val="0"/>
            <c:spPr>
              <a:solidFill>
                <a:srgbClr val="05141F"/>
              </a:solidFill>
            </c:spPr>
          </c:dPt>
          <c:dPt>
            <c:idx val="1"/>
            <c:spPr>
              <a:solidFill>
                <a:srgbClr val="B51222"/>
              </a:solidFill>
            </c:spPr>
          </c:dPt>
          <c:dPt>
            <c:idx val="2"/>
            <c:spPr>
              <a:solidFill>
                <a:srgbClr val="00529B"/>
              </a:solidFill>
            </c:spPr>
          </c:dPt>
          <c:dPt>
            <c:idx val="3"/>
            <c:spPr>
              <a:solidFill>
                <a:srgbClr val="006E42"/>
              </a:solidFill>
            </c:spPr>
          </c:dPt>
          <c:dPt>
            <c:idx val="4"/>
            <c:spPr>
              <a:solidFill>
                <a:srgbClr val="3A75C4"/>
              </a:solidFill>
            </c:spPr>
          </c:dPt>
          <c:dPt>
            <c:idx val="5"/>
            <c:spPr>
              <a:solidFill>
                <a:srgbClr val="8B5500"/>
              </a:solidFill>
            </c:spPr>
          </c:dPt>
          <c:cat>
            <c:strRef>
              <c:f>Sheet1!$A$2:$A$7</c:f>
              <c:strCache>
                <c:ptCount val="6"/>
                <c:pt idx="0">
                  <c:v>KIA</c:v>
                </c:pt>
                <c:pt idx="1">
                  <c:v>Chevrolet</c:v>
                </c:pt>
                <c:pt idx="2">
                  <c:v>JAC</c:v>
                </c:pt>
                <c:pt idx="3">
                  <c:v>JETOUR</c:v>
                </c:pt>
                <c:pt idx="4">
                  <c:v>Skoda</c:v>
                </c:pt>
                <c:pt idx="5">
                  <c:v>Soueast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632361</c:v>
                </c:pt>
                <c:pt idx="1">
                  <c:v>230627</c:v>
                </c:pt>
                <c:pt idx="2">
                  <c:v>402827</c:v>
                </c:pt>
                <c:pt idx="3">
                  <c:v>496013</c:v>
                </c:pt>
                <c:pt idx="4">
                  <c:v>538477</c:v>
                </c:pt>
                <c:pt idx="5">
                  <c:v>559650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/>
              <a:t>% маржи по брендам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% маржи</c:v>
                </c:pt>
              </c:strCache>
            </c:strRef>
          </c:tx>
          <c:dPt>
            <c:idx val="0"/>
            <c:spPr>
              <a:solidFill>
                <a:srgbClr val="05141F"/>
              </a:solidFill>
            </c:spPr>
          </c:dPt>
          <c:dPt>
            <c:idx val="1"/>
            <c:spPr>
              <a:solidFill>
                <a:srgbClr val="B51222"/>
              </a:solidFill>
            </c:spPr>
          </c:dPt>
          <c:dPt>
            <c:idx val="2"/>
            <c:spPr>
              <a:solidFill>
                <a:srgbClr val="00529B"/>
              </a:solidFill>
            </c:spPr>
          </c:dPt>
          <c:dPt>
            <c:idx val="3"/>
            <c:spPr>
              <a:solidFill>
                <a:srgbClr val="006E42"/>
              </a:solidFill>
            </c:spPr>
          </c:dPt>
          <c:dPt>
            <c:idx val="4"/>
            <c:spPr>
              <a:solidFill>
                <a:srgbClr val="3A75C4"/>
              </a:solidFill>
            </c:spPr>
          </c:dPt>
          <c:dPt>
            <c:idx val="5"/>
            <c:spPr>
              <a:solidFill>
                <a:srgbClr val="8B5500"/>
              </a:solidFill>
            </c:spPr>
          </c:dPt>
          <c:cat>
            <c:strRef>
              <c:f>Sheet1!$A$2:$A$7</c:f>
              <c:strCache>
                <c:ptCount val="6"/>
                <c:pt idx="0">
                  <c:v>KIA</c:v>
                </c:pt>
                <c:pt idx="1">
                  <c:v>Chevrolet</c:v>
                </c:pt>
                <c:pt idx="2">
                  <c:v>JAC</c:v>
                </c:pt>
                <c:pt idx="3">
                  <c:v>JETOUR</c:v>
                </c:pt>
                <c:pt idx="4">
                  <c:v>Skoda</c:v>
                </c:pt>
                <c:pt idx="5">
                  <c:v>Soueast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4.49</c:v>
                </c:pt>
                <c:pt idx="1">
                  <c:v>3.58</c:v>
                </c:pt>
                <c:pt idx="2">
                  <c:v>4.37</c:v>
                </c:pt>
                <c:pt idx="3">
                  <c:v>4.73</c:v>
                </c:pt>
                <c:pt idx="4">
                  <c:v>2.18</c:v>
                </c:pt>
                <c:pt idx="5">
                  <c:v>3.52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88952" cy="73152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93792"/>
            <a:ext cx="12188952" cy="3657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1463040"/>
            <a:ext cx="91440" cy="3200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B900"/>
                </a:solidFill>
                <a:latin typeface="Calibri"/>
              </a:rPr>
              <a:t>DCG 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МАРЖА АПРЕЛЬ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91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0BBE0"/>
                </a:solidFill>
                <a:latin typeface="Calibri"/>
              </a:rPr>
              <a:t>Анализ маржинальности по брендам и дилерским центрам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206240"/>
            <a:ext cx="2743200" cy="822960"/>
          </a:xfrm>
          <a:prstGeom prst="rect">
            <a:avLst/>
          </a:prstGeom>
          <a:solidFill>
            <a:srgbClr val="1A45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4992624"/>
            <a:ext cx="2743200" cy="36576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4279392"/>
            <a:ext cx="2596896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B900"/>
                </a:solidFill>
                <a:latin typeface="Calibri"/>
              </a:rPr>
              <a:t>2 629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4658868"/>
            <a:ext cx="2596896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0D4EE"/>
                </a:solidFill>
                <a:latin typeface="Calibri"/>
              </a:rPr>
              <a:t>авто продано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4206240"/>
            <a:ext cx="2743200" cy="822960"/>
          </a:xfrm>
          <a:prstGeom prst="rect">
            <a:avLst/>
          </a:prstGeom>
          <a:solidFill>
            <a:srgbClr val="1A45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4992624"/>
            <a:ext cx="2743200" cy="36576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64992" y="4279392"/>
            <a:ext cx="2596896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B900"/>
                </a:solidFill>
                <a:latin typeface="Calibri"/>
              </a:rPr>
              <a:t>877 млн 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4992" y="4658868"/>
            <a:ext cx="2596896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0D4EE"/>
                </a:solidFill>
                <a:latin typeface="Calibri"/>
              </a:rPr>
              <a:t>маржа всего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4206240"/>
            <a:ext cx="2743200" cy="822960"/>
          </a:xfrm>
          <a:prstGeom prst="rect">
            <a:avLst/>
          </a:prstGeom>
          <a:solidFill>
            <a:srgbClr val="1A45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4992624"/>
            <a:ext cx="2743200" cy="36576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4279392"/>
            <a:ext cx="2596896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B900"/>
                </a:solidFill>
                <a:latin typeface="Calibri"/>
              </a:rPr>
              <a:t>191 млн 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4658868"/>
            <a:ext cx="2596896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0D4EE"/>
                </a:solidFill>
                <a:latin typeface="Calibri"/>
              </a:rPr>
              <a:t>доп. оборудование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4206240"/>
            <a:ext cx="2743200" cy="822960"/>
          </a:xfrm>
          <a:prstGeom prst="rect">
            <a:avLst/>
          </a:prstGeom>
          <a:solidFill>
            <a:srgbClr val="1A45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4992624"/>
            <a:ext cx="2743200" cy="36576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17152" y="4279392"/>
            <a:ext cx="2596896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B900"/>
                </a:solidFill>
                <a:latin typeface="Calibri"/>
              </a:rPr>
              <a:t>1 068 млн 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7152" y="4658868"/>
            <a:ext cx="2596896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0D4EE"/>
                </a:solidFill>
                <a:latin typeface="Calibri"/>
              </a:rPr>
              <a:t>к получению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486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80A0"/>
                </a:solidFill>
                <a:latin typeface="Calibri"/>
              </a:rPr>
              <a:t>Апрель 2026 г.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ИТОГИ АПРЕЛЯ 2026 — СВОДНАЯ ТАБЛИЦА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8EE"/>
                </a:solidFill>
                <a:latin typeface="Calibri"/>
              </a:rPr>
              <a:t>Данные по всем брендам | 2 629 автомобилей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261872"/>
            <a:ext cx="2834640" cy="777240"/>
          </a:xfrm>
          <a:prstGeom prst="rect">
            <a:avLst/>
          </a:prstGeom>
          <a:solidFill>
            <a:srgbClr val="05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2002536"/>
            <a:ext cx="2834640" cy="36576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" y="1335024"/>
            <a:ext cx="2688336" cy="427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B900"/>
                </a:solidFill>
                <a:latin typeface="Calibri"/>
              </a:rPr>
              <a:t>2 629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" y="1689354"/>
            <a:ext cx="2688336" cy="3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0D4EE"/>
                </a:solidFill>
                <a:latin typeface="Calibri"/>
              </a:rPr>
              <a:t>авто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27832" y="1261872"/>
            <a:ext cx="2834640" cy="77724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27832" y="2002536"/>
            <a:ext cx="2834640" cy="36576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00984" y="1335024"/>
            <a:ext cx="2688336" cy="427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B900"/>
                </a:solidFill>
                <a:latin typeface="Calibri"/>
              </a:rPr>
              <a:t>877 млн 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00984" y="1689354"/>
            <a:ext cx="2688336" cy="3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0D4EE"/>
                </a:solidFill>
                <a:latin typeface="Calibri"/>
              </a:rPr>
              <a:t>маржа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7064" y="1261872"/>
            <a:ext cx="2834640" cy="777240"/>
          </a:xfrm>
          <a:prstGeom prst="rect">
            <a:avLst/>
          </a:prstGeom>
          <a:solidFill>
            <a:srgbClr val="006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27064" y="2002536"/>
            <a:ext cx="2834640" cy="36576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0216" y="1335024"/>
            <a:ext cx="2688336" cy="427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B900"/>
                </a:solidFill>
                <a:latin typeface="Calibri"/>
              </a:rPr>
              <a:t>191 млн 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216" y="1689354"/>
            <a:ext cx="2688336" cy="3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0D4EE"/>
                </a:solidFill>
                <a:latin typeface="Calibri"/>
              </a:rPr>
              <a:t>доп. обор.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26296" y="1261872"/>
            <a:ext cx="2834640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26296" y="2002536"/>
            <a:ext cx="2834640" cy="36576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9448" y="1335024"/>
            <a:ext cx="2688336" cy="427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B900"/>
                </a:solidFill>
                <a:latin typeface="Calibri"/>
              </a:rPr>
              <a:t>1 068 млн 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8" y="1689354"/>
            <a:ext cx="2688336" cy="3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0D4EE"/>
                </a:solidFill>
                <a:latin typeface="Calibri"/>
              </a:rPr>
              <a:t>к получению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2176272"/>
            <a:ext cx="11859767" cy="475488"/>
          </a:xfrm>
          <a:prstGeom prst="rect">
            <a:avLst/>
          </a:prstGeom>
          <a:solidFill>
            <a:srgbClr val="1A45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3464" y="2231136"/>
            <a:ext cx="2697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Бренд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72384" y="2231136"/>
            <a:ext cx="960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Авто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23944" y="223113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Ср. маржа 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86983" y="223113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Маржа всего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15784" y="2231136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Доп. обор.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61704" y="2231136"/>
            <a:ext cx="20116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К получению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64824" y="2231136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2651760"/>
            <a:ext cx="11859767" cy="438912"/>
          </a:xfrm>
          <a:prstGeom prst="rect">
            <a:avLst/>
          </a:prstGeom>
          <a:solidFill>
            <a:srgbClr val="F3F6FA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28600" y="2651760"/>
            <a:ext cx="54864" cy="438912"/>
          </a:xfrm>
          <a:prstGeom prst="rect">
            <a:avLst/>
          </a:prstGeom>
          <a:solidFill>
            <a:srgbClr val="05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" y="2697479"/>
            <a:ext cx="26974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KIA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72384" y="2697479"/>
            <a:ext cx="9601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23944" y="2697479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632 361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86983" y="2697479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258.0 млн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15784" y="269747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66.9 млн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61704" y="2697479"/>
            <a:ext cx="20116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324.9 млн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64824" y="2697479"/>
            <a:ext cx="868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4.49%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" y="3127248"/>
            <a:ext cx="11859767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28600" y="3127248"/>
            <a:ext cx="54864" cy="438912"/>
          </a:xfrm>
          <a:prstGeom prst="rect">
            <a:avLst/>
          </a:prstGeom>
          <a:solidFill>
            <a:srgbClr val="B5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3464" y="3172968"/>
            <a:ext cx="26974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Chevrolet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72384" y="3172968"/>
            <a:ext cx="9601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1 787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23944" y="3172968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230 627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86983" y="3172968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412.1 млн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15784" y="317296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94.2 млн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3172968"/>
            <a:ext cx="20116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506.4 млн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64824" y="3172968"/>
            <a:ext cx="868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3.58%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3602736"/>
            <a:ext cx="11859767" cy="438912"/>
          </a:xfrm>
          <a:prstGeom prst="rect">
            <a:avLst/>
          </a:prstGeom>
          <a:solidFill>
            <a:srgbClr val="F3F6FA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28600" y="3602736"/>
            <a:ext cx="54864" cy="438912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3464" y="3648456"/>
            <a:ext cx="26974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JAC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72384" y="3648456"/>
            <a:ext cx="9601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88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23944" y="3648456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402 827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86983" y="3648456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35.4 млн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15784" y="364845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9.6 млн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61704" y="3648456"/>
            <a:ext cx="20116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45.0 млн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64824" y="3648456"/>
            <a:ext cx="868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4.37%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8600" y="4078224"/>
            <a:ext cx="11859767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28600" y="4078224"/>
            <a:ext cx="54864" cy="438912"/>
          </a:xfrm>
          <a:prstGeom prst="rect">
            <a:avLst/>
          </a:prstGeom>
          <a:solidFill>
            <a:srgbClr val="006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83464" y="4123944"/>
            <a:ext cx="26974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JETOUR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072384" y="4123944"/>
            <a:ext cx="9601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343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23944" y="4123944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496 013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86983" y="4123944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170.1 млн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15784" y="4123944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20.1 млн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61704" y="4123944"/>
            <a:ext cx="20116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190.2 млн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164824" y="4123944"/>
            <a:ext cx="868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4.73%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8600" y="4553712"/>
            <a:ext cx="11859767" cy="438912"/>
          </a:xfrm>
          <a:prstGeom prst="rect">
            <a:avLst/>
          </a:prstGeom>
          <a:solidFill>
            <a:srgbClr val="F3F6FA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28600" y="4553712"/>
            <a:ext cx="54864" cy="438912"/>
          </a:xfrm>
          <a:prstGeom prst="rect">
            <a:avLst/>
          </a:prstGeom>
          <a:solidFill>
            <a:srgbClr val="3A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83464" y="4599432"/>
            <a:ext cx="26974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Skoda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072384" y="4599432"/>
            <a:ext cx="9601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23944" y="4599432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538 477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586983" y="4599432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1.6 млн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15784" y="459943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— млн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61704" y="4599432"/>
            <a:ext cx="20116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1.6 млн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164824" y="4599432"/>
            <a:ext cx="868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2.18%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28600" y="5029200"/>
            <a:ext cx="11859767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28600" y="5029200"/>
            <a:ext cx="54864" cy="438912"/>
          </a:xfrm>
          <a:prstGeom prst="rect">
            <a:avLst/>
          </a:prstGeom>
          <a:solidFill>
            <a:srgbClr val="8B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83464" y="5074920"/>
            <a:ext cx="26974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Soueast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072384" y="5074920"/>
            <a:ext cx="9601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23944" y="5074920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559 650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86983" y="5074920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1.1 млн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415784" y="5074920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— млн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61704" y="5074920"/>
            <a:ext cx="20116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1.1 млн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164824" y="5074920"/>
            <a:ext cx="868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3.52%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28600" y="5504688"/>
            <a:ext cx="11859767" cy="438912"/>
          </a:xfrm>
          <a:prstGeom prst="rect">
            <a:avLst/>
          </a:prstGeom>
          <a:solidFill>
            <a:srgbClr val="FFEFCC"/>
          </a:solidFill>
          <a:ln w="127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83464" y="5550407"/>
            <a:ext cx="26974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B5000"/>
                </a:solidFill>
                <a:latin typeface="Calibri"/>
              </a:rPr>
              <a:t>ИТОГО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072384" y="5550407"/>
            <a:ext cx="9601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8B5000"/>
                </a:solidFill>
                <a:latin typeface="Calibri"/>
              </a:rPr>
              <a:t>2 629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123944" y="5550407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8B5000"/>
                </a:solidFill>
                <a:latin typeface="Calibri"/>
              </a:rPr>
              <a:t>334 138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586983" y="5550407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8B5000"/>
                </a:solidFill>
                <a:latin typeface="Calibri"/>
              </a:rPr>
              <a:t>877.3 млн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415784" y="5550407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8B5000"/>
                </a:solidFill>
                <a:latin typeface="Calibri"/>
              </a:rPr>
              <a:t>190.8 млн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061704" y="5550407"/>
            <a:ext cx="20116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8B5000"/>
                </a:solidFill>
                <a:latin typeface="Calibri"/>
              </a:rPr>
              <a:t>1068.1 млн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164824" y="5550407"/>
            <a:ext cx="868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8B5000"/>
                </a:solidFill>
                <a:latin typeface="Calibri"/>
              </a:rPr>
              <a:t>—</a:t>
            </a:r>
          </a:p>
        </p:txBody>
      </p:sp>
      <p:graphicFrame>
        <p:nvGraphicFramePr>
          <p:cNvPr id="93" name="Chart 92"/>
          <p:cNvGraphicFramePr>
            <a:graphicFrameLocks noGrp="1"/>
          </p:cNvGraphicFramePr>
          <p:nvPr/>
        </p:nvGraphicFramePr>
        <p:xfrm>
          <a:off x="228600" y="5577840"/>
          <a:ext cx="7223760" cy="1143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4" name="TextBox 93"/>
          <p:cNvSpPr txBox="1"/>
          <p:nvPr/>
        </p:nvSpPr>
        <p:spPr>
          <a:xfrm>
            <a:off x="228600" y="5486400"/>
            <a:ext cx="7223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457B"/>
                </a:solidFill>
                <a:latin typeface="Calibri"/>
              </a:rPr>
              <a:t>Количество автомобилей по брендам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ДИНАМИКА ПО МЕСЯЦАМ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8EE"/>
                </a:solidFill>
                <a:latin typeface="Calibri"/>
              </a:rPr>
              <a:t>Апрель 2025 — Апрель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207008"/>
            <a:ext cx="8339327" cy="420624"/>
          </a:xfrm>
          <a:prstGeom prst="rect">
            <a:avLst/>
          </a:prstGeom>
          <a:solidFill>
            <a:srgbClr val="1A45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" y="1261872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Месяц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66544" y="1261872"/>
            <a:ext cx="11887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Авто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46704" y="1261872"/>
            <a:ext cx="16459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Маржа, млн 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4064" y="126187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ДО, млн 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3" y="1261872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К получению, млн 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627632"/>
            <a:ext cx="8339327" cy="365760"/>
          </a:xfrm>
          <a:prstGeom prst="rect">
            <a:avLst/>
          </a:prstGeom>
          <a:solidFill>
            <a:srgbClr val="E8F0FE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7744" y="167335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Апр'25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66544" y="1673352"/>
            <a:ext cx="1188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1 947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46704" y="1673352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904.6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4064" y="167335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91.5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3" y="167335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996.1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2048256"/>
            <a:ext cx="8339327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7744" y="209397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Май'25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66544" y="2093976"/>
            <a:ext cx="1188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1 836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2093976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784.7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4064" y="209397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69.2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3" y="209397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853.9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2468880"/>
            <a:ext cx="8339327" cy="365760"/>
          </a:xfrm>
          <a:prstGeom prst="rect">
            <a:avLst/>
          </a:prstGeom>
          <a:solidFill>
            <a:srgbClr val="F3F6FA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7744" y="251460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Июн'25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66544" y="2514600"/>
            <a:ext cx="1188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2 006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46704" y="2514600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840.1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84064" y="251460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72.3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3" y="251460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912.4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" y="2889504"/>
            <a:ext cx="8339327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7744" y="293522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Июл'25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66544" y="2935224"/>
            <a:ext cx="1188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2 391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46704" y="2935224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869.8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84064" y="293522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202.1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47103" y="293522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1071.8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2880" y="3310128"/>
            <a:ext cx="8339327" cy="365760"/>
          </a:xfrm>
          <a:prstGeom prst="rect">
            <a:avLst/>
          </a:prstGeom>
          <a:solidFill>
            <a:srgbClr val="F3F6FA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7744" y="335584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Авг'25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66544" y="3355848"/>
            <a:ext cx="1188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1 772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46704" y="3355848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693.7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84064" y="335584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156.8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47103" y="335584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850.5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2880" y="3730752"/>
            <a:ext cx="8339327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7744" y="377647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Сен'25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66544" y="3776472"/>
            <a:ext cx="1188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1 835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46704" y="3776472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764.8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84064" y="377647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200.7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47103" y="377647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965.5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2880" y="4151376"/>
            <a:ext cx="8339327" cy="365760"/>
          </a:xfrm>
          <a:prstGeom prst="rect">
            <a:avLst/>
          </a:prstGeom>
          <a:solidFill>
            <a:srgbClr val="F3F6FA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7744" y="419709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Окт'25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66544" y="4197096"/>
            <a:ext cx="1188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1 983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46704" y="4197096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839.1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84064" y="419709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232.2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47103" y="419709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1071.4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2880" y="4572000"/>
            <a:ext cx="8339327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37744" y="461772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Ноя'25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66544" y="4617720"/>
            <a:ext cx="1188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3 886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46704" y="4617720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1394.8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84064" y="461772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424.0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47103" y="461772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1818.8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82880" y="4992624"/>
            <a:ext cx="8339327" cy="365760"/>
          </a:xfrm>
          <a:prstGeom prst="rect">
            <a:avLst/>
          </a:prstGeom>
          <a:solidFill>
            <a:srgbClr val="F3F6FA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37744" y="503834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Дек'25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66544" y="5038344"/>
            <a:ext cx="1188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2 848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46704" y="5038344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1022.1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84064" y="503834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316.7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47103" y="503834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1338.8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82880" y="5413248"/>
            <a:ext cx="8339327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37744" y="545896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Янв'26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66544" y="5458968"/>
            <a:ext cx="1188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1 809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346704" y="5458968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648.2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84064" y="545896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202.5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47103" y="545896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850.8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82880" y="5833872"/>
            <a:ext cx="8339327" cy="365760"/>
          </a:xfrm>
          <a:prstGeom prst="rect">
            <a:avLst/>
          </a:prstGeom>
          <a:solidFill>
            <a:srgbClr val="F3F6FA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37744" y="587959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Фев'26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66544" y="5879592"/>
            <a:ext cx="1188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1 545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346704" y="5879592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657.8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84064" y="587959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221.1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47103" y="587959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878.9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82880" y="6254496"/>
            <a:ext cx="8339327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37744" y="630021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Мар'26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66544" y="6300216"/>
            <a:ext cx="1188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1 505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346704" y="6300216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701.6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84064" y="630021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219.6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547103" y="630021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921.2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82880" y="6675120"/>
            <a:ext cx="8339327" cy="365760"/>
          </a:xfrm>
          <a:prstGeom prst="rect">
            <a:avLst/>
          </a:prstGeom>
          <a:solidFill>
            <a:srgbClr val="FFEFCC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37744" y="672084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B5000"/>
                </a:solidFill>
                <a:latin typeface="Calibri"/>
              </a:rPr>
              <a:t>Апр'26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066544" y="6720840"/>
            <a:ext cx="1188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8B5000"/>
                </a:solidFill>
                <a:latin typeface="Calibri"/>
              </a:rPr>
              <a:t>2 629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346704" y="6720840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8B5000"/>
                </a:solidFill>
                <a:latin typeface="Calibri"/>
              </a:rPr>
              <a:t>877.3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084064" y="672084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8B5000"/>
                </a:solidFill>
                <a:latin typeface="Calibri"/>
              </a:rPr>
              <a:t>190.8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547103" y="672084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8B5000"/>
                </a:solidFill>
                <a:latin typeface="Calibri"/>
              </a:rPr>
              <a:t>1068.1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74320" y="71414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5000"/>
                </a:solidFill>
                <a:latin typeface="Calibri"/>
              </a:rPr>
              <a:t>★ Апрель 2026</a:t>
            </a:r>
          </a:p>
        </p:txBody>
      </p:sp>
      <p:graphicFrame>
        <p:nvGraphicFramePr>
          <p:cNvPr id="92" name="Chart 91"/>
          <p:cNvGraphicFramePr>
            <a:graphicFrameLocks noGrp="1"/>
          </p:cNvGraphicFramePr>
          <p:nvPr/>
        </p:nvGraphicFramePr>
        <p:xfrm>
          <a:off x="8503920" y="1207008"/>
          <a:ext cx="35204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3" name="Chart 92"/>
          <p:cNvGraphicFramePr>
            <a:graphicFrameLocks noGrp="1"/>
          </p:cNvGraphicFramePr>
          <p:nvPr/>
        </p:nvGraphicFramePr>
        <p:xfrm>
          <a:off x="8503920" y="5394960"/>
          <a:ext cx="3520440" cy="1325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5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KIA — ДИЛЕРЫ И МОДЕЛИ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8EE"/>
                </a:solidFill>
                <a:latin typeface="Calibri"/>
              </a:rPr>
              <a:t>Апрель 2026 | 408 авто | Маржа: 258 млн ₸ | 4.49%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207008"/>
            <a:ext cx="9299448" cy="448056"/>
          </a:xfrm>
          <a:prstGeom prst="rect">
            <a:avLst/>
          </a:prstGeom>
          <a:solidFill>
            <a:srgbClr val="05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" y="1261872"/>
            <a:ext cx="28346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Дилер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63824" y="1261872"/>
            <a:ext cx="11430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Авто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98264" y="1261872"/>
            <a:ext cx="13258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Ср.маржа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5583" y="1261872"/>
            <a:ext cx="16002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М.пост.скид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07224" y="1261872"/>
            <a:ext cx="11430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ДОП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1664" y="1261872"/>
            <a:ext cx="6858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655064"/>
            <a:ext cx="9299448" cy="411480"/>
          </a:xfrm>
          <a:prstGeom prst="rect">
            <a:avLst/>
          </a:prstGeom>
          <a:solidFill>
            <a:srgbClr val="F3F6FA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2880" y="1655064"/>
            <a:ext cx="54864" cy="411480"/>
          </a:xfrm>
          <a:prstGeom prst="rect">
            <a:avLst/>
          </a:prstGeom>
          <a:solidFill>
            <a:srgbClr val="05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" y="1700784"/>
            <a:ext cx="28346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Актау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63824" y="1700784"/>
            <a:ext cx="1143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8264" y="1700784"/>
            <a:ext cx="1325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679 219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15583" y="1700784"/>
            <a:ext cx="16002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12.2 млн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07224" y="1700784"/>
            <a:ext cx="1143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2.9 млн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41664" y="1700784"/>
            <a:ext cx="6858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4.83%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103120"/>
            <a:ext cx="9299448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2880" y="2103120"/>
            <a:ext cx="54864" cy="411480"/>
          </a:xfrm>
          <a:prstGeom prst="rect">
            <a:avLst/>
          </a:prstGeom>
          <a:solidFill>
            <a:srgbClr val="05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7744" y="2148839"/>
            <a:ext cx="28346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Алматы Qulja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63824" y="2148839"/>
            <a:ext cx="1143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57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98264" y="2148839"/>
            <a:ext cx="1325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614 007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15583" y="2148839"/>
            <a:ext cx="16002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35.0 млн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07224" y="2148839"/>
            <a:ext cx="1143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8.3 млн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41664" y="2148839"/>
            <a:ext cx="6858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4.19%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2551176"/>
            <a:ext cx="9299448" cy="411480"/>
          </a:xfrm>
          <a:prstGeom prst="rect">
            <a:avLst/>
          </a:prstGeom>
          <a:solidFill>
            <a:srgbClr val="F3F6FA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82880" y="2551176"/>
            <a:ext cx="54864" cy="411480"/>
          </a:xfrm>
          <a:prstGeom prst="rect">
            <a:avLst/>
          </a:prstGeom>
          <a:solidFill>
            <a:srgbClr val="05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7744" y="2596896"/>
            <a:ext cx="28346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Шымкент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63824" y="2596896"/>
            <a:ext cx="1143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98264" y="2596896"/>
            <a:ext cx="1325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681 154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15583" y="2596896"/>
            <a:ext cx="16002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85.1 млн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07224" y="2596896"/>
            <a:ext cx="1143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29.1 млн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41664" y="2596896"/>
            <a:ext cx="6858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4.85%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" y="2999232"/>
            <a:ext cx="9299448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82880" y="2999232"/>
            <a:ext cx="54864" cy="411480"/>
          </a:xfrm>
          <a:prstGeom prst="rect">
            <a:avLst/>
          </a:prstGeom>
          <a:solidFill>
            <a:srgbClr val="05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7744" y="3044952"/>
            <a:ext cx="28346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Алматы ALMATY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63824" y="3044952"/>
            <a:ext cx="1143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59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98264" y="3044952"/>
            <a:ext cx="1325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569 750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15583" y="3044952"/>
            <a:ext cx="16002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33.6 млн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07224" y="3044952"/>
            <a:ext cx="1143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6.0 млн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41664" y="3044952"/>
            <a:ext cx="6858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4.13%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2880" y="3447288"/>
            <a:ext cx="9299448" cy="411480"/>
          </a:xfrm>
          <a:prstGeom prst="rect">
            <a:avLst/>
          </a:prstGeom>
          <a:solidFill>
            <a:srgbClr val="F3F6FA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82880" y="3447288"/>
            <a:ext cx="54864" cy="411480"/>
          </a:xfrm>
          <a:prstGeom prst="rect">
            <a:avLst/>
          </a:prstGeom>
          <a:solidFill>
            <a:srgbClr val="05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7744" y="3493008"/>
            <a:ext cx="28346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Тараз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63824" y="3493008"/>
            <a:ext cx="1143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98264" y="3493008"/>
            <a:ext cx="1325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592 709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3" y="3493008"/>
            <a:ext cx="16002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13.6 млн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07224" y="3493008"/>
            <a:ext cx="1143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7.7 млн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41664" y="3493008"/>
            <a:ext cx="6858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4.26%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82880" y="3895344"/>
            <a:ext cx="9299448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82880" y="3895344"/>
            <a:ext cx="54864" cy="411480"/>
          </a:xfrm>
          <a:prstGeom prst="rect">
            <a:avLst/>
          </a:prstGeom>
          <a:solidFill>
            <a:srgbClr val="05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37744" y="3941063"/>
            <a:ext cx="28346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Астана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63824" y="3941063"/>
            <a:ext cx="1143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65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98264" y="3941063"/>
            <a:ext cx="1325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625 837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15583" y="3941063"/>
            <a:ext cx="16002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40.7 млн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07224" y="3941063"/>
            <a:ext cx="1143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8.7 млн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41664" y="3941063"/>
            <a:ext cx="6858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4.36%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4343400"/>
            <a:ext cx="9299448" cy="411480"/>
          </a:xfrm>
          <a:prstGeom prst="rect">
            <a:avLst/>
          </a:prstGeom>
          <a:solidFill>
            <a:srgbClr val="F3F6FA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82880" y="4343400"/>
            <a:ext cx="54864" cy="411480"/>
          </a:xfrm>
          <a:prstGeom prst="rect">
            <a:avLst/>
          </a:prstGeom>
          <a:solidFill>
            <a:srgbClr val="05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37744" y="4389120"/>
            <a:ext cx="28346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УКО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163824" y="4389120"/>
            <a:ext cx="1143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34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98264" y="4389120"/>
            <a:ext cx="1325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536 531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15583" y="4389120"/>
            <a:ext cx="16002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18.2 млн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507224" y="4389120"/>
            <a:ext cx="1143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4.1 млн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41664" y="4389120"/>
            <a:ext cx="6858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4.03%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82880" y="4791456"/>
            <a:ext cx="9299448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82880" y="4791456"/>
            <a:ext cx="54864" cy="411480"/>
          </a:xfrm>
          <a:prstGeom prst="rect">
            <a:avLst/>
          </a:prstGeom>
          <a:solidFill>
            <a:srgbClr val="05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37744" y="4837176"/>
            <a:ext cx="28346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Павлодар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163824" y="4837176"/>
            <a:ext cx="1143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98264" y="4837176"/>
            <a:ext cx="1325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720 948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815583" y="4837176"/>
            <a:ext cx="16002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19.5 млн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507224" y="4837176"/>
            <a:ext cx="1143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— млн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741664" y="4837176"/>
            <a:ext cx="6858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5.16%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5239512"/>
            <a:ext cx="9299448" cy="411480"/>
          </a:xfrm>
          <a:prstGeom prst="rect">
            <a:avLst/>
          </a:prstGeom>
          <a:solidFill>
            <a:srgbClr val="FFEFCC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37744" y="5285232"/>
            <a:ext cx="28346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B5000"/>
                </a:solidFill>
                <a:latin typeface="Calibri"/>
              </a:rPr>
              <a:t>ИТОГО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163824" y="5285232"/>
            <a:ext cx="1143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8B5000"/>
                </a:solidFill>
                <a:latin typeface="Calibri"/>
              </a:rPr>
              <a:t>408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398264" y="5285232"/>
            <a:ext cx="1325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8B5000"/>
                </a:solidFill>
                <a:latin typeface="Calibri"/>
              </a:rPr>
              <a:t>632 361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815583" y="5285232"/>
            <a:ext cx="16002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8B5000"/>
                </a:solidFill>
                <a:latin typeface="Calibri"/>
              </a:rPr>
              <a:t>258.0 млн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507224" y="5285232"/>
            <a:ext cx="1143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8B5000"/>
                </a:solidFill>
                <a:latin typeface="Calibri"/>
              </a:rPr>
              <a:t>66.9 млн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741664" y="5285232"/>
            <a:ext cx="6858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8B5000"/>
                </a:solidFill>
                <a:latin typeface="Calibri"/>
              </a:rPr>
              <a:t>4.49%</a:t>
            </a:r>
          </a:p>
        </p:txBody>
      </p:sp>
      <p:graphicFrame>
        <p:nvGraphicFramePr>
          <p:cNvPr id="85" name="Chart 84"/>
          <p:cNvGraphicFramePr>
            <a:graphicFrameLocks noGrp="1"/>
          </p:cNvGraphicFramePr>
          <p:nvPr/>
        </p:nvGraphicFramePr>
        <p:xfrm>
          <a:off x="9601200" y="1207008"/>
          <a:ext cx="242316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6" name="Rectangle 85"/>
          <p:cNvSpPr/>
          <p:nvPr/>
        </p:nvSpPr>
        <p:spPr>
          <a:xfrm>
            <a:off x="182880" y="5989320"/>
            <a:ext cx="9281160" cy="685800"/>
          </a:xfrm>
          <a:prstGeom prst="rect">
            <a:avLst/>
          </a:prstGeom>
          <a:solidFill>
            <a:srgbClr val="05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74320" y="601675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CCFF"/>
                </a:solidFill>
                <a:latin typeface="Calibri"/>
              </a:rPr>
              <a:t>Маржа инвест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74320" y="627278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900"/>
                </a:solidFill>
                <a:latin typeface="Calibri"/>
              </a:rPr>
              <a:t>28.7 млн ₸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743200" y="601675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CCFF"/>
                </a:solidFill>
                <a:latin typeface="Calibri"/>
              </a:rPr>
              <a:t>Скидки (15 авто)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743200" y="627278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900"/>
                </a:solidFill>
                <a:latin typeface="Calibri"/>
              </a:rPr>
              <a:t>12.3 млн ₸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212080" y="601675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CCFF"/>
                </a:solidFill>
                <a:latin typeface="Calibri"/>
              </a:rPr>
              <a:t>Лидер по авто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212080" y="627278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900"/>
                </a:solidFill>
                <a:latin typeface="Calibri"/>
              </a:rPr>
              <a:t>Шымкент (125)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15200" y="601675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CCFF"/>
                </a:solidFill>
                <a:latin typeface="Calibri"/>
              </a:rPr>
              <a:t>Топ % маржи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315200" y="627278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900"/>
                </a:solidFill>
                <a:latin typeface="Calibri"/>
              </a:rPr>
              <a:t>Павлодар 5.16%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B5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CHEVROLET — ДИЛЕРЫ И МОДЕЛИ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8EE"/>
                </a:solidFill>
                <a:latin typeface="Calibri"/>
              </a:rPr>
              <a:t>Апрель 2026 | 1 787 авто | Маржа: 412 млн ₸ | 3.58%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207008"/>
            <a:ext cx="9299448" cy="393192"/>
          </a:xfrm>
          <a:prstGeom prst="rect">
            <a:avLst/>
          </a:prstGeom>
          <a:solidFill>
            <a:srgbClr val="B5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" y="1261872"/>
            <a:ext cx="283464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Дилер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63824" y="1261872"/>
            <a:ext cx="114300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Авто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98264" y="1261872"/>
            <a:ext cx="132588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Ср.маржа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5583" y="1261872"/>
            <a:ext cx="160020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Маржа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07224" y="1261872"/>
            <a:ext cx="114300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ДОП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1664" y="1261872"/>
            <a:ext cx="68580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600200"/>
            <a:ext cx="9299448" cy="365760"/>
          </a:xfrm>
          <a:prstGeom prst="rect">
            <a:avLst/>
          </a:prstGeom>
          <a:solidFill>
            <a:srgbClr val="F3F6FA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2880" y="1600200"/>
            <a:ext cx="54864" cy="365760"/>
          </a:xfrm>
          <a:prstGeom prst="rect">
            <a:avLst/>
          </a:prstGeom>
          <a:solidFill>
            <a:srgbClr val="B5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" y="16459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Актау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63824" y="164592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91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8264" y="16459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227 473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15583" y="164592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20.7 млн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07224" y="164592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8.4 млн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41664" y="164592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3.73%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93392"/>
            <a:ext cx="9299448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2880" y="1993392"/>
            <a:ext cx="54864" cy="365760"/>
          </a:xfrm>
          <a:prstGeom prst="rect">
            <a:avLst/>
          </a:prstGeom>
          <a:solidFill>
            <a:srgbClr val="B5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7744" y="203911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Атырау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63824" y="2039112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72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98264" y="203911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237 500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15583" y="2039112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17.1 млн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07224" y="2039112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2.4 млн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41664" y="2039112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3.87%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2386584"/>
            <a:ext cx="9299448" cy="365760"/>
          </a:xfrm>
          <a:prstGeom prst="rect">
            <a:avLst/>
          </a:prstGeom>
          <a:solidFill>
            <a:srgbClr val="F3F6FA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82880" y="2386584"/>
            <a:ext cx="54864" cy="365760"/>
          </a:xfrm>
          <a:prstGeom prst="rect">
            <a:avLst/>
          </a:prstGeom>
          <a:solidFill>
            <a:srgbClr val="B5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7744" y="243230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Алматы 1159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63824" y="2432304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98264" y="2432304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300 000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15583" y="2432304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1.2 млн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07224" y="2432304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0.9 млн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41664" y="2432304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4.43%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" y="2779776"/>
            <a:ext cx="9299448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82880" y="2779776"/>
            <a:ext cx="54864" cy="365760"/>
          </a:xfrm>
          <a:prstGeom prst="rect">
            <a:avLst/>
          </a:prstGeom>
          <a:solidFill>
            <a:srgbClr val="B5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7744" y="282549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Шымкент 119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63824" y="2825496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375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98264" y="2825496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219 573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15583" y="2825496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82.3 млн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07224" y="2825496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15.2 млн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41664" y="2825496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3.45%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2880" y="3172968"/>
            <a:ext cx="9299448" cy="365760"/>
          </a:xfrm>
          <a:prstGeom prst="rect">
            <a:avLst/>
          </a:prstGeom>
          <a:solidFill>
            <a:srgbClr val="F3F6FA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82880" y="3172968"/>
            <a:ext cx="54864" cy="365760"/>
          </a:xfrm>
          <a:prstGeom prst="rect">
            <a:avLst/>
          </a:prstGeom>
          <a:solidFill>
            <a:srgbClr val="B5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7744" y="3218687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Алматы Zhets.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63824" y="3218687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72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98264" y="3218687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242 361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3" y="3218687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17.4 млн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07224" y="3218687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— млн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41664" y="3218687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3.33%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82880" y="3566160"/>
            <a:ext cx="9299448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82880" y="3566160"/>
            <a:ext cx="54864" cy="365760"/>
          </a:xfrm>
          <a:prstGeom prst="rect">
            <a:avLst/>
          </a:prstGeom>
          <a:solidFill>
            <a:srgbClr val="B5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37744" y="36118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Тараз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63824" y="361188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118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98264" y="361188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219 915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15583" y="361188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25.9 млн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07224" y="361188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6.8 млн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41664" y="361188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3.57%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3959352"/>
            <a:ext cx="9299448" cy="365760"/>
          </a:xfrm>
          <a:prstGeom prst="rect">
            <a:avLst/>
          </a:prstGeom>
          <a:solidFill>
            <a:srgbClr val="F3F6FA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82880" y="3959352"/>
            <a:ext cx="54864" cy="365760"/>
          </a:xfrm>
          <a:prstGeom prst="rect">
            <a:avLst/>
          </a:prstGeom>
          <a:solidFill>
            <a:srgbClr val="B5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37744" y="400507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Астана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163824" y="4005072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108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98264" y="400507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268 519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15583" y="4005072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29.0 млн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507224" y="4005072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3.9 млн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41664" y="4005072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3.60%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82880" y="4352544"/>
            <a:ext cx="9299448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82880" y="4352544"/>
            <a:ext cx="54864" cy="365760"/>
          </a:xfrm>
          <a:prstGeom prst="rect">
            <a:avLst/>
          </a:prstGeom>
          <a:solidFill>
            <a:srgbClr val="B5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37744" y="439826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УКО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163824" y="4398264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130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98264" y="4398264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226 923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815583" y="4398264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29.5 млн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507224" y="4398264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12.1 млн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741664" y="4398264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3.69%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45736"/>
            <a:ext cx="9299448" cy="365760"/>
          </a:xfrm>
          <a:prstGeom prst="rect">
            <a:avLst/>
          </a:prstGeom>
          <a:solidFill>
            <a:srgbClr val="F3F6FA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82880" y="4745736"/>
            <a:ext cx="54864" cy="365760"/>
          </a:xfrm>
          <a:prstGeom prst="rect">
            <a:avLst/>
          </a:prstGeom>
          <a:solidFill>
            <a:srgbClr val="B5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37744" y="479145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Павлодар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163824" y="4791456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94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398264" y="4791456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245 745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815583" y="4791456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23.1 млн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507224" y="4791456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4.8 млн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741664" y="4791456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3.67%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82880" y="5138928"/>
            <a:ext cx="9299448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82880" y="5138928"/>
            <a:ext cx="54864" cy="365760"/>
          </a:xfrm>
          <a:prstGeom prst="rect">
            <a:avLst/>
          </a:prstGeom>
          <a:solidFill>
            <a:srgbClr val="B5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37744" y="518464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Уральск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163824" y="518464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124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398264" y="518464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234 274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815583" y="518464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29.1 млн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507224" y="518464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3.2 млн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741664" y="5184648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3.75%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82880" y="5532120"/>
            <a:ext cx="9299448" cy="365760"/>
          </a:xfrm>
          <a:prstGeom prst="rect">
            <a:avLst/>
          </a:prstGeom>
          <a:solidFill>
            <a:srgbClr val="F3F6FA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82880" y="5532120"/>
            <a:ext cx="54864" cy="365760"/>
          </a:xfrm>
          <a:prstGeom prst="rect">
            <a:avLst/>
          </a:prstGeom>
          <a:solidFill>
            <a:srgbClr val="B5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37744" y="55778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Кызылорда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163824" y="557784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130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398264" y="557784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220 769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815583" y="557784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28.7 млн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507224" y="557784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5.9 млн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741664" y="557784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3.59%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82880" y="5925312"/>
            <a:ext cx="9299448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82880" y="5925312"/>
            <a:ext cx="54864" cy="365760"/>
          </a:xfrm>
          <a:prstGeom prst="rect">
            <a:avLst/>
          </a:prstGeom>
          <a:solidFill>
            <a:srgbClr val="B5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37744" y="597103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Шымкент 935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163824" y="5971032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469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398264" y="597103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230 362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815583" y="5971032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108.0 млн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507224" y="5971032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30.7 млн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741664" y="5971032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3.55%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6318504"/>
            <a:ext cx="9299448" cy="365760"/>
          </a:xfrm>
          <a:prstGeom prst="rect">
            <a:avLst/>
          </a:prstGeom>
          <a:solidFill>
            <a:srgbClr val="FFEFCC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37744" y="636422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B5000"/>
                </a:solidFill>
                <a:latin typeface="Calibri"/>
              </a:rPr>
              <a:t>ИТОГО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163824" y="6364224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8B5000"/>
                </a:solidFill>
                <a:latin typeface="Calibri"/>
              </a:rPr>
              <a:t>1787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398264" y="6364224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8B5000"/>
                </a:solidFill>
                <a:latin typeface="Calibri"/>
              </a:rPr>
              <a:t>230 627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815583" y="6364224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8B5000"/>
                </a:solidFill>
                <a:latin typeface="Calibri"/>
              </a:rPr>
              <a:t>412.1 млн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507224" y="6364224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8B5000"/>
                </a:solidFill>
                <a:latin typeface="Calibri"/>
              </a:rPr>
              <a:t>94.2 млн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741664" y="6364224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8B5000"/>
                </a:solidFill>
                <a:latin typeface="Calibri"/>
              </a:rPr>
              <a:t>3.58%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9601200" y="1207008"/>
          <a:ext cx="242316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8" name="Rectangle 117"/>
          <p:cNvSpPr/>
          <p:nvPr/>
        </p:nvSpPr>
        <p:spPr>
          <a:xfrm>
            <a:off x="9601200" y="4572000"/>
            <a:ext cx="2624328" cy="384048"/>
          </a:xfrm>
          <a:prstGeom prst="rect">
            <a:avLst/>
          </a:prstGeom>
          <a:solidFill>
            <a:srgbClr val="B5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656064" y="4626864"/>
            <a:ext cx="11430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Модель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890504" y="4626864"/>
            <a:ext cx="457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Авто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1439144" y="4626864"/>
            <a:ext cx="36576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Ср.маржа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1896344" y="4626864"/>
            <a:ext cx="27432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%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601200" y="4956048"/>
            <a:ext cx="2606040" cy="347472"/>
          </a:xfrm>
          <a:prstGeom prst="rect">
            <a:avLst/>
          </a:prstGeom>
          <a:solidFill>
            <a:srgbClr val="F3F6FA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656064" y="5001768"/>
            <a:ext cx="1143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Cobalt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890504" y="5001768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1748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1439144" y="5001768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223 587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1896344" y="5001768"/>
            <a:ext cx="27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97.8%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9601200" y="5340096"/>
            <a:ext cx="26060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656064" y="5385816"/>
            <a:ext cx="1143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Onix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890504" y="5385816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23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1439144" y="5385816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330 435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1896344" y="5385816"/>
            <a:ext cx="27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1.3%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9601200" y="5724144"/>
            <a:ext cx="2606040" cy="347472"/>
          </a:xfrm>
          <a:prstGeom prst="rect">
            <a:avLst/>
          </a:prstGeom>
          <a:solidFill>
            <a:srgbClr val="F3F6FA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9656064" y="5769864"/>
            <a:ext cx="1143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Tahoe MY25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890504" y="576986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1439144" y="5769864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1 118 182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1896344" y="5769864"/>
            <a:ext cx="27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0.6%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9601200" y="6108192"/>
            <a:ext cx="26060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9656064" y="6153912"/>
            <a:ext cx="1143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Tracker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890504" y="6153912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1439144" y="6153912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400 000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1896344" y="6153912"/>
            <a:ext cx="27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0.1%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9601200" y="6492240"/>
            <a:ext cx="2606040" cy="347472"/>
          </a:xfrm>
          <a:prstGeom prst="rect">
            <a:avLst/>
          </a:prstGeom>
          <a:solidFill>
            <a:srgbClr val="F3F6FA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9656064" y="6537959"/>
            <a:ext cx="1143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Labo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890504" y="6537959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1439144" y="6537959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200 000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896344" y="6537959"/>
            <a:ext cx="27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0.2%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82880" y="6144768"/>
            <a:ext cx="9281160" cy="548640"/>
          </a:xfrm>
          <a:prstGeom prst="rect">
            <a:avLst/>
          </a:prstGeom>
          <a:solidFill>
            <a:srgbClr val="B5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274320" y="616305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BBBB"/>
                </a:solidFill>
                <a:latin typeface="Calibri"/>
              </a:rPr>
              <a:t>Лидер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74320" y="639165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900"/>
                </a:solidFill>
                <a:latin typeface="Calibri"/>
              </a:rPr>
              <a:t>Шымкент 935 (469 авто)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114800" y="616305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BBBB"/>
                </a:solidFill>
                <a:latin typeface="Calibri"/>
              </a:rPr>
              <a:t>Скидки (48 авто)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114800" y="639165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900"/>
                </a:solidFill>
                <a:latin typeface="Calibri"/>
              </a:rPr>
              <a:t>4.2 млн ₸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858000" y="616305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BBBB"/>
                </a:solidFill>
                <a:latin typeface="Calibri"/>
              </a:rPr>
              <a:t>Топ % маржи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858000" y="639165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900"/>
                </a:solidFill>
                <a:latin typeface="Calibri"/>
              </a:rPr>
              <a:t>Алматы 4.43%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JAC — ДИЛЕРЫ И МОДЕЛИ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8EE"/>
                </a:solidFill>
                <a:latin typeface="Calibri"/>
              </a:rPr>
              <a:t>Апрель 2026 | 88 авто | Маржа: 35.4 млн ₸ | 4.37%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207008"/>
            <a:ext cx="9345167" cy="43434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" y="1261872"/>
            <a:ext cx="324612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Дилер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5304" y="1261872"/>
            <a:ext cx="1143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Авто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1261872"/>
            <a:ext cx="1234439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Ср.маржа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35624" y="1261872"/>
            <a:ext cx="1417319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Маржа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44384" y="1261872"/>
            <a:ext cx="109728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ДОП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33104" y="1261872"/>
            <a:ext cx="64008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641348"/>
            <a:ext cx="9345167" cy="397764"/>
          </a:xfrm>
          <a:prstGeom prst="rect">
            <a:avLst/>
          </a:prstGeom>
          <a:solidFill>
            <a:srgbClr val="F3F6FA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2880" y="1641348"/>
            <a:ext cx="54864" cy="397764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" y="1687068"/>
            <a:ext cx="324612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Шымкент Baidybek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5304" y="1687068"/>
            <a:ext cx="114300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9744" y="1687068"/>
            <a:ext cx="1234439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466 843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35624" y="1687068"/>
            <a:ext cx="1417319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6.5 млн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44384" y="1687068"/>
            <a:ext cx="109728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2.3 млн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33104" y="1687068"/>
            <a:ext cx="64008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4.77%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75688"/>
            <a:ext cx="9345167" cy="39776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2880" y="2075688"/>
            <a:ext cx="54864" cy="397764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7744" y="2121408"/>
            <a:ext cx="324612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Тараз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75304" y="2121408"/>
            <a:ext cx="114300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9744" y="2121408"/>
            <a:ext cx="1234439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475 600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35624" y="2121408"/>
            <a:ext cx="1417319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1.0 млн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44384" y="2121408"/>
            <a:ext cx="109728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— млн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121408"/>
            <a:ext cx="64008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4.00%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2510028"/>
            <a:ext cx="9345167" cy="397764"/>
          </a:xfrm>
          <a:prstGeom prst="rect">
            <a:avLst/>
          </a:prstGeom>
          <a:solidFill>
            <a:srgbClr val="F3F6FA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82880" y="2510028"/>
            <a:ext cx="54864" cy="397764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7744" y="2555748"/>
            <a:ext cx="324612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Актау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5304" y="2555748"/>
            <a:ext cx="114300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9744" y="2555748"/>
            <a:ext cx="1234439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520 200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35624" y="2555748"/>
            <a:ext cx="1417319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1.6 млн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44384" y="2555748"/>
            <a:ext cx="109728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— млн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33104" y="2555748"/>
            <a:ext cx="64008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4.76%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" y="2944368"/>
            <a:ext cx="9345167" cy="39776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82880" y="2944368"/>
            <a:ext cx="54864" cy="397764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7744" y="2990087"/>
            <a:ext cx="324612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Атырау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75304" y="2990087"/>
            <a:ext cx="114300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09744" y="2990087"/>
            <a:ext cx="1234439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446 440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35624" y="2990087"/>
            <a:ext cx="1417319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2.2 млн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44384" y="2990087"/>
            <a:ext cx="109728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0.0 млн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2990087"/>
            <a:ext cx="64008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4.31%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2880" y="3378708"/>
            <a:ext cx="9345167" cy="397764"/>
          </a:xfrm>
          <a:prstGeom prst="rect">
            <a:avLst/>
          </a:prstGeom>
          <a:solidFill>
            <a:srgbClr val="F3F6FA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82880" y="3378708"/>
            <a:ext cx="54864" cy="397764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7744" y="3424428"/>
            <a:ext cx="324612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Шымкент ONTUSTIK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75304" y="3424428"/>
            <a:ext cx="114300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09744" y="3424428"/>
            <a:ext cx="1234439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306 000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35624" y="3424428"/>
            <a:ext cx="1417319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3.4 млн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44384" y="3424428"/>
            <a:ext cx="109728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0.5 млн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33104" y="3424428"/>
            <a:ext cx="64008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3.64%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82880" y="3813048"/>
            <a:ext cx="9345167" cy="39776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82880" y="3813048"/>
            <a:ext cx="54864" cy="397764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37744" y="3858768"/>
            <a:ext cx="324612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УКО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75304" y="3858768"/>
            <a:ext cx="114300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09744" y="3858768"/>
            <a:ext cx="1234439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423 733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35624" y="3858768"/>
            <a:ext cx="1417319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5.1 млн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44384" y="3858768"/>
            <a:ext cx="109728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2.4 млн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33104" y="3858768"/>
            <a:ext cx="64008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4.58%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4247388"/>
            <a:ext cx="9345167" cy="397764"/>
          </a:xfrm>
          <a:prstGeom prst="rect">
            <a:avLst/>
          </a:prstGeom>
          <a:solidFill>
            <a:srgbClr val="F3F6FA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82880" y="4247388"/>
            <a:ext cx="54864" cy="397764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37744" y="4293107"/>
            <a:ext cx="324612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Шымкент Темир.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75304" y="4293107"/>
            <a:ext cx="114300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09744" y="4293107"/>
            <a:ext cx="1234439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303 600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35624" y="4293107"/>
            <a:ext cx="1417319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2.1 млн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44384" y="4293107"/>
            <a:ext cx="109728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1.2 млн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33104" y="4293107"/>
            <a:ext cx="64008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4.00%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82880" y="4681728"/>
            <a:ext cx="9345167" cy="39776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82880" y="4681728"/>
            <a:ext cx="54864" cy="397764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37744" y="4727448"/>
            <a:ext cx="324612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Астана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575304" y="4727448"/>
            <a:ext cx="114300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09744" y="4727448"/>
            <a:ext cx="1234439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383 200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35624" y="4727448"/>
            <a:ext cx="1417319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4.6 млн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44384" y="4727448"/>
            <a:ext cx="109728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2.1 млн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833104" y="4727448"/>
            <a:ext cx="64008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4.17%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5116068"/>
            <a:ext cx="9345167" cy="397764"/>
          </a:xfrm>
          <a:prstGeom prst="rect">
            <a:avLst/>
          </a:prstGeom>
          <a:solidFill>
            <a:srgbClr val="F3F6FA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82880" y="5116068"/>
            <a:ext cx="54864" cy="397764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37744" y="5161788"/>
            <a:ext cx="324612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Павлодар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575304" y="5161788"/>
            <a:ext cx="114300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09744" y="5161788"/>
            <a:ext cx="1234439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465 778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35624" y="5161788"/>
            <a:ext cx="1417319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4.2 млн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644384" y="5161788"/>
            <a:ext cx="109728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0.5 млн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833104" y="5161788"/>
            <a:ext cx="64008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4.80%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82880" y="5550408"/>
            <a:ext cx="9345167" cy="39776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82880" y="5550408"/>
            <a:ext cx="54864" cy="397764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37744" y="5596128"/>
            <a:ext cx="324612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Кызылорда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575304" y="5596128"/>
            <a:ext cx="114300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809744" y="5596128"/>
            <a:ext cx="1234439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334 933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135624" y="5596128"/>
            <a:ext cx="1417319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2.0 млн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644384" y="5596128"/>
            <a:ext cx="109728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0.2 млн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833104" y="5596128"/>
            <a:ext cx="64008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4.00%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82880" y="5984748"/>
            <a:ext cx="9345167" cy="397764"/>
          </a:xfrm>
          <a:prstGeom prst="rect">
            <a:avLst/>
          </a:prstGeom>
          <a:solidFill>
            <a:srgbClr val="F3F6FA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82880" y="5984748"/>
            <a:ext cx="54864" cy="397764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37744" y="6030468"/>
            <a:ext cx="324612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Уральск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575304" y="6030468"/>
            <a:ext cx="114300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7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809744" y="6030468"/>
            <a:ext cx="1234439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399 000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135624" y="6030468"/>
            <a:ext cx="1417319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2.8 млн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644384" y="6030468"/>
            <a:ext cx="109728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0.4 млн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33104" y="6030468"/>
            <a:ext cx="64008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4.51%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82880" y="6419088"/>
            <a:ext cx="9345167" cy="397764"/>
          </a:xfrm>
          <a:prstGeom prst="rect">
            <a:avLst/>
          </a:prstGeom>
          <a:solidFill>
            <a:srgbClr val="FFEFCC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37744" y="6464807"/>
            <a:ext cx="324612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B5000"/>
                </a:solidFill>
                <a:latin typeface="Calibri"/>
              </a:rPr>
              <a:t>ИТОГО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575304" y="6464807"/>
            <a:ext cx="114300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8B5000"/>
                </a:solidFill>
                <a:latin typeface="Calibri"/>
              </a:rPr>
              <a:t>88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809744" y="6464807"/>
            <a:ext cx="1234439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8B5000"/>
                </a:solidFill>
                <a:latin typeface="Calibri"/>
              </a:rPr>
              <a:t>402 827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135624" y="6464807"/>
            <a:ext cx="1417319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8B5000"/>
                </a:solidFill>
                <a:latin typeface="Calibri"/>
              </a:rPr>
              <a:t>35.4 млн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644384" y="6464807"/>
            <a:ext cx="109728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8B5000"/>
                </a:solidFill>
                <a:latin typeface="Calibri"/>
              </a:rPr>
              <a:t>9.6 млн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33104" y="6464807"/>
            <a:ext cx="64008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8B5000"/>
                </a:solidFill>
                <a:latin typeface="Calibri"/>
              </a:rPr>
              <a:t>4.37%</a:t>
            </a:r>
          </a:p>
        </p:txBody>
      </p:sp>
      <p:graphicFrame>
        <p:nvGraphicFramePr>
          <p:cNvPr id="109" name="Chart 108"/>
          <p:cNvGraphicFramePr>
            <a:graphicFrameLocks noGrp="1"/>
          </p:cNvGraphicFramePr>
          <p:nvPr/>
        </p:nvGraphicFramePr>
        <p:xfrm>
          <a:off x="9601200" y="1207008"/>
          <a:ext cx="242316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10" name="Chart 109"/>
          <p:cNvGraphicFramePr>
            <a:graphicFrameLocks noGrp="1"/>
          </p:cNvGraphicFramePr>
          <p:nvPr/>
        </p:nvGraphicFramePr>
        <p:xfrm>
          <a:off x="9601200" y="5029200"/>
          <a:ext cx="2423160" cy="1645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6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JETOUR — ДИЛЕРЫ И МОДЕЛИ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8EE"/>
                </a:solidFill>
                <a:latin typeface="Calibri"/>
              </a:rPr>
              <a:t>Апрель 2026 | 343 авто | Маржа: 170 млн ₸ | 4.73%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207008"/>
            <a:ext cx="9345167" cy="434340"/>
          </a:xfrm>
          <a:prstGeom prst="rect">
            <a:avLst/>
          </a:prstGeom>
          <a:solidFill>
            <a:srgbClr val="006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" y="1261872"/>
            <a:ext cx="324612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Дилер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5304" y="1261872"/>
            <a:ext cx="1143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Авто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1261872"/>
            <a:ext cx="1234439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Ср.маржа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35624" y="1261872"/>
            <a:ext cx="1417319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Маржа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44384" y="1261872"/>
            <a:ext cx="109728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ДОП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33104" y="1261872"/>
            <a:ext cx="64008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641348"/>
            <a:ext cx="9345167" cy="397764"/>
          </a:xfrm>
          <a:prstGeom prst="rect">
            <a:avLst/>
          </a:prstGeom>
          <a:solidFill>
            <a:srgbClr val="F3F6FA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2880" y="1641348"/>
            <a:ext cx="54864" cy="397764"/>
          </a:xfrm>
          <a:prstGeom prst="rect">
            <a:avLst/>
          </a:prstGeom>
          <a:solidFill>
            <a:srgbClr val="006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" y="1687068"/>
            <a:ext cx="324612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Алматы Alatau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5304" y="1687068"/>
            <a:ext cx="114300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9744" y="1687068"/>
            <a:ext cx="1234439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495 850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35624" y="1687068"/>
            <a:ext cx="1417319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12.9 млн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44384" y="1687068"/>
            <a:ext cx="109728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1.2 млн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33104" y="1687068"/>
            <a:ext cx="64008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4.40%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75688"/>
            <a:ext cx="9345167" cy="39776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2880" y="2075688"/>
            <a:ext cx="54864" cy="397764"/>
          </a:xfrm>
          <a:prstGeom prst="rect">
            <a:avLst/>
          </a:prstGeom>
          <a:solidFill>
            <a:srgbClr val="006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7744" y="2121408"/>
            <a:ext cx="324612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Актау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75304" y="2121408"/>
            <a:ext cx="114300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32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9744" y="2121408"/>
            <a:ext cx="1234439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634 025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35624" y="2121408"/>
            <a:ext cx="1417319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20.3 млн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44384" y="2121408"/>
            <a:ext cx="109728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2.5 млн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121408"/>
            <a:ext cx="64008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5.19%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2510028"/>
            <a:ext cx="9345167" cy="397764"/>
          </a:xfrm>
          <a:prstGeom prst="rect">
            <a:avLst/>
          </a:prstGeom>
          <a:solidFill>
            <a:srgbClr val="F3F6FA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82880" y="2510028"/>
            <a:ext cx="54864" cy="397764"/>
          </a:xfrm>
          <a:prstGeom prst="rect">
            <a:avLst/>
          </a:prstGeom>
          <a:solidFill>
            <a:srgbClr val="006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7744" y="2555748"/>
            <a:ext cx="324612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Атырау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5304" y="2555748"/>
            <a:ext cx="114300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34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9744" y="2555748"/>
            <a:ext cx="1234439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369 285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35624" y="2555748"/>
            <a:ext cx="1417319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12.6 млн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44384" y="2555748"/>
            <a:ext cx="109728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5.4 млн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33104" y="2555748"/>
            <a:ext cx="64008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4.11%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" y="2944368"/>
            <a:ext cx="9345167" cy="39776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82880" y="2944368"/>
            <a:ext cx="54864" cy="397764"/>
          </a:xfrm>
          <a:prstGeom prst="rect">
            <a:avLst/>
          </a:prstGeom>
          <a:solidFill>
            <a:srgbClr val="006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7744" y="2990087"/>
            <a:ext cx="324612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Алматы Zhets.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75304" y="2990087"/>
            <a:ext cx="114300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31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09744" y="2990087"/>
            <a:ext cx="1234439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552 371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35624" y="2990087"/>
            <a:ext cx="1417319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17.1 млн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44384" y="2990087"/>
            <a:ext cx="109728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— млн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2990087"/>
            <a:ext cx="64008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4.84%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2880" y="3378708"/>
            <a:ext cx="9345167" cy="397764"/>
          </a:xfrm>
          <a:prstGeom prst="rect">
            <a:avLst/>
          </a:prstGeom>
          <a:solidFill>
            <a:srgbClr val="F3F6FA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82880" y="3378708"/>
            <a:ext cx="54864" cy="397764"/>
          </a:xfrm>
          <a:prstGeom prst="rect">
            <a:avLst/>
          </a:prstGeom>
          <a:solidFill>
            <a:srgbClr val="006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7744" y="3424428"/>
            <a:ext cx="324612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УКО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75304" y="3424428"/>
            <a:ext cx="114300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50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09744" y="3424428"/>
            <a:ext cx="1234439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513 714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35624" y="3424428"/>
            <a:ext cx="1417319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25.7 млн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44384" y="3424428"/>
            <a:ext cx="109728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2.8 млн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33104" y="3424428"/>
            <a:ext cx="64008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5.05%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82880" y="3813048"/>
            <a:ext cx="9345167" cy="39776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82880" y="3813048"/>
            <a:ext cx="54864" cy="397764"/>
          </a:xfrm>
          <a:prstGeom prst="rect">
            <a:avLst/>
          </a:prstGeom>
          <a:solidFill>
            <a:srgbClr val="006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37744" y="3858768"/>
            <a:ext cx="324612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Шымкент Ont.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75304" y="3858768"/>
            <a:ext cx="114300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33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09744" y="3858768"/>
            <a:ext cx="1234439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499 097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35624" y="3858768"/>
            <a:ext cx="1417319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16.5 млн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44384" y="3858768"/>
            <a:ext cx="109728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2.2 млн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33104" y="3858768"/>
            <a:ext cx="64008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4.52%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4247388"/>
            <a:ext cx="9345167" cy="397764"/>
          </a:xfrm>
          <a:prstGeom prst="rect">
            <a:avLst/>
          </a:prstGeom>
          <a:solidFill>
            <a:srgbClr val="F3F6FA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82880" y="4247388"/>
            <a:ext cx="54864" cy="397764"/>
          </a:xfrm>
          <a:prstGeom prst="rect">
            <a:avLst/>
          </a:prstGeom>
          <a:solidFill>
            <a:srgbClr val="006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37744" y="4293107"/>
            <a:ext cx="324612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Павлодар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75304" y="4293107"/>
            <a:ext cx="114300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09744" y="4293107"/>
            <a:ext cx="1234439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443 338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35624" y="4293107"/>
            <a:ext cx="1417319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12.9 млн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44384" y="4293107"/>
            <a:ext cx="109728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0.2 млн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33104" y="4293107"/>
            <a:ext cx="64008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4.62%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82880" y="4681728"/>
            <a:ext cx="9345167" cy="39776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82880" y="4681728"/>
            <a:ext cx="54864" cy="397764"/>
          </a:xfrm>
          <a:prstGeom prst="rect">
            <a:avLst/>
          </a:prstGeom>
          <a:solidFill>
            <a:srgbClr val="006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37744" y="4727448"/>
            <a:ext cx="324612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Кызылорда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575304" y="4727448"/>
            <a:ext cx="114300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09744" y="4727448"/>
            <a:ext cx="1234439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428 186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35624" y="4727448"/>
            <a:ext cx="1417319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9.4 млн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44384" y="4727448"/>
            <a:ext cx="109728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1.4 млн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833104" y="4727448"/>
            <a:ext cx="64008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4.49%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5116068"/>
            <a:ext cx="9345167" cy="397764"/>
          </a:xfrm>
          <a:prstGeom prst="rect">
            <a:avLst/>
          </a:prstGeom>
          <a:solidFill>
            <a:srgbClr val="F3F6FA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82880" y="5116068"/>
            <a:ext cx="54864" cy="397764"/>
          </a:xfrm>
          <a:prstGeom prst="rect">
            <a:avLst/>
          </a:prstGeom>
          <a:solidFill>
            <a:srgbClr val="006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37744" y="5161788"/>
            <a:ext cx="324612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Тараз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575304" y="5161788"/>
            <a:ext cx="114300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09744" y="5161788"/>
            <a:ext cx="1234439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472 025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35624" y="5161788"/>
            <a:ext cx="1417319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3.8 млн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644384" y="5161788"/>
            <a:ext cx="109728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1.2 млн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833104" y="5161788"/>
            <a:ext cx="64008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4.75%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82880" y="5550408"/>
            <a:ext cx="9345167" cy="39776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82880" y="5550408"/>
            <a:ext cx="54864" cy="397764"/>
          </a:xfrm>
          <a:prstGeom prst="rect">
            <a:avLst/>
          </a:prstGeom>
          <a:solidFill>
            <a:srgbClr val="006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37744" y="5596128"/>
            <a:ext cx="324612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Шымкент Baid.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575304" y="5596128"/>
            <a:ext cx="114300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809744" y="5596128"/>
            <a:ext cx="1234439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574 697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135624" y="5596128"/>
            <a:ext cx="1417319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16.7 млн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644384" y="5596128"/>
            <a:ext cx="109728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2.0 млн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833104" y="5596128"/>
            <a:ext cx="64008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4.88%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82880" y="5984748"/>
            <a:ext cx="9345167" cy="397764"/>
          </a:xfrm>
          <a:prstGeom prst="rect">
            <a:avLst/>
          </a:prstGeom>
          <a:solidFill>
            <a:srgbClr val="F3F6FA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82880" y="5984748"/>
            <a:ext cx="54864" cy="397764"/>
          </a:xfrm>
          <a:prstGeom prst="rect">
            <a:avLst/>
          </a:prstGeom>
          <a:solidFill>
            <a:srgbClr val="006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37744" y="6030468"/>
            <a:ext cx="324612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Уральск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575304" y="6030468"/>
            <a:ext cx="114300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49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809744" y="6030468"/>
            <a:ext cx="1234439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457 084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135624" y="6030468"/>
            <a:ext cx="1417319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22.4 млн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644384" y="6030468"/>
            <a:ext cx="109728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1.0 млн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33104" y="6030468"/>
            <a:ext cx="64008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4.77%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82880" y="6419088"/>
            <a:ext cx="9345167" cy="397764"/>
          </a:xfrm>
          <a:prstGeom prst="rect">
            <a:avLst/>
          </a:prstGeom>
          <a:solidFill>
            <a:srgbClr val="FFEFCC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37744" y="6464807"/>
            <a:ext cx="324612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B5000"/>
                </a:solidFill>
                <a:latin typeface="Calibri"/>
              </a:rPr>
              <a:t>ИТОГО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575304" y="6464807"/>
            <a:ext cx="114300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8B5000"/>
                </a:solidFill>
                <a:latin typeface="Calibri"/>
              </a:rPr>
              <a:t>343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809744" y="6464807"/>
            <a:ext cx="1234439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8B5000"/>
                </a:solidFill>
                <a:latin typeface="Calibri"/>
              </a:rPr>
              <a:t>496 013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135624" y="6464807"/>
            <a:ext cx="1417319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8B5000"/>
                </a:solidFill>
                <a:latin typeface="Calibri"/>
              </a:rPr>
              <a:t>170.1 млн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644384" y="6464807"/>
            <a:ext cx="109728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8B5000"/>
                </a:solidFill>
                <a:latin typeface="Calibri"/>
              </a:rPr>
              <a:t>20.1 млн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33104" y="6464807"/>
            <a:ext cx="640080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8B5000"/>
                </a:solidFill>
                <a:latin typeface="Calibri"/>
              </a:rPr>
              <a:t>4.73%</a:t>
            </a:r>
          </a:p>
        </p:txBody>
      </p:sp>
      <p:graphicFrame>
        <p:nvGraphicFramePr>
          <p:cNvPr id="109" name="Chart 108"/>
          <p:cNvGraphicFramePr>
            <a:graphicFrameLocks noGrp="1"/>
          </p:cNvGraphicFramePr>
          <p:nvPr/>
        </p:nvGraphicFramePr>
        <p:xfrm>
          <a:off x="9601200" y="1207008"/>
          <a:ext cx="242316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0" name="TextBox 109"/>
          <p:cNvSpPr txBox="1"/>
          <p:nvPr/>
        </p:nvSpPr>
        <p:spPr>
          <a:xfrm>
            <a:off x="9646920" y="49834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1B2A"/>
                </a:solidFill>
                <a:latin typeface="Calibri"/>
              </a:rPr>
              <a:t>Топ по авто: X70FL (125), X50 (84)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646920" y="5257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1B2A"/>
                </a:solidFill>
                <a:latin typeface="Calibri"/>
              </a:rPr>
              <a:t>Топ по марже: T1 (5.89%), T2 (5.49%)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SKODA | SOUEAST — НОВЫЕ БРЕНДЫ + СРАВНЕНИЕ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8EE"/>
                </a:solidFill>
                <a:latin typeface="Calibri"/>
              </a:rPr>
              <a:t>Апрель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207008"/>
            <a:ext cx="4023360" cy="384048"/>
          </a:xfrm>
          <a:prstGeom prst="rect">
            <a:avLst/>
          </a:prstGeom>
          <a:solidFill>
            <a:srgbClr val="3A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43584"/>
            <a:ext cx="3840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SKODA — 3 авто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591056"/>
            <a:ext cx="4133087" cy="384048"/>
          </a:xfrm>
          <a:prstGeom prst="rect">
            <a:avLst/>
          </a:prstGeom>
          <a:solidFill>
            <a:srgbClr val="3A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" y="1645920"/>
            <a:ext cx="13716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Дилер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0784" y="1645920"/>
            <a:ext cx="73152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Авто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3744" y="1645920"/>
            <a:ext cx="10972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Ср. маржа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3" y="1645920"/>
            <a:ext cx="5486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975104"/>
            <a:ext cx="4114800" cy="347472"/>
          </a:xfrm>
          <a:prstGeom prst="rect">
            <a:avLst/>
          </a:prstGeom>
          <a:solidFill>
            <a:srgbClr val="F3F6FA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4" y="2020824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УКО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784" y="2020824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3744" y="2020824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465 430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2463" y="2020824"/>
            <a:ext cx="548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1.89%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2359152"/>
            <a:ext cx="41148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7744" y="2404872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Атырау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0784" y="2404872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744" y="2404872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575 000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12463" y="2404872"/>
            <a:ext cx="548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2.33%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743200"/>
            <a:ext cx="4114800" cy="347472"/>
          </a:xfrm>
          <a:prstGeom prst="rect">
            <a:avLst/>
          </a:prstGeom>
          <a:solidFill>
            <a:srgbClr val="FFEFCC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7744" y="278892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B5000"/>
                </a:solidFill>
                <a:latin typeface="Calibri"/>
              </a:rPr>
              <a:t>ИТОГО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00784" y="2788920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8B5000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23744" y="2788920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8B5000"/>
                </a:solidFill>
                <a:latin typeface="Calibri"/>
              </a:rPr>
              <a:t>538 477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12463" y="2788920"/>
            <a:ext cx="548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8B5000"/>
                </a:solidFill>
                <a:latin typeface="Calibri"/>
              </a:rPr>
              <a:t>2.18%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285292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2A"/>
                </a:solidFill>
                <a:latin typeface="Calibri"/>
              </a:rPr>
              <a:t>Модель: Kodiaq NG | % маржи: 2.18%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3383280"/>
            <a:ext cx="4023360" cy="384048"/>
          </a:xfrm>
          <a:prstGeom prst="rect">
            <a:avLst/>
          </a:prstGeom>
          <a:solidFill>
            <a:srgbClr val="8B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3419856"/>
            <a:ext cx="3840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SOUEAST — 2 авто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3767328"/>
            <a:ext cx="4023360" cy="457200"/>
          </a:xfrm>
          <a:prstGeom prst="rect">
            <a:avLst/>
          </a:prstGeom>
          <a:solidFill>
            <a:srgbClr val="F3F6FA"/>
          </a:solidFill>
          <a:ln w="635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3822191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Ср. маржа: 559 650 ₸  |  К получению: 1.1 млн ₸  |  % маржи: 3.52%</a:t>
            </a:r>
          </a:p>
        </p:txBody>
      </p:sp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4480560" y="1207008"/>
          <a:ext cx="365760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8321040" y="1207008"/>
          <a:ext cx="3657600" cy="2926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6" name="Rectangle 35"/>
          <p:cNvSpPr/>
          <p:nvPr/>
        </p:nvSpPr>
        <p:spPr>
          <a:xfrm>
            <a:off x="4480560" y="4297680"/>
            <a:ext cx="4864607" cy="384048"/>
          </a:xfrm>
          <a:prstGeom prst="rect">
            <a:avLst/>
          </a:prstGeom>
          <a:solidFill>
            <a:srgbClr val="1A45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5424" y="4352544"/>
            <a:ext cx="2011679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Бренд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38544" y="4352544"/>
            <a:ext cx="10972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Авто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27264" y="4352544"/>
            <a:ext cx="82296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Ср.маржа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41664" y="4352544"/>
            <a:ext cx="5486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80560" y="4681728"/>
            <a:ext cx="4846320" cy="347472"/>
          </a:xfrm>
          <a:prstGeom prst="rect">
            <a:avLst/>
          </a:prstGeom>
          <a:solidFill>
            <a:srgbClr val="F3F6FA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80560" y="4681728"/>
            <a:ext cx="54864" cy="347472"/>
          </a:xfrm>
          <a:prstGeom prst="rect">
            <a:avLst/>
          </a:prstGeom>
          <a:solidFill>
            <a:srgbClr val="05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35424" y="4727448"/>
            <a:ext cx="20116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KIA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38544" y="4727448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27264" y="4727448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632 361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41664" y="4727448"/>
            <a:ext cx="548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4.49%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80560" y="5065776"/>
            <a:ext cx="48463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80560" y="5065776"/>
            <a:ext cx="54864" cy="347472"/>
          </a:xfrm>
          <a:prstGeom prst="rect">
            <a:avLst/>
          </a:prstGeom>
          <a:solidFill>
            <a:srgbClr val="B5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35424" y="5111496"/>
            <a:ext cx="20116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Chevrolet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38544" y="5111496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1 787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27264" y="5111496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230 627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41664" y="5111496"/>
            <a:ext cx="548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3.58%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80560" y="5449824"/>
            <a:ext cx="4846320" cy="347472"/>
          </a:xfrm>
          <a:prstGeom prst="rect">
            <a:avLst/>
          </a:prstGeom>
          <a:solidFill>
            <a:srgbClr val="F3F6FA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480560" y="5449824"/>
            <a:ext cx="54864" cy="347472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35424" y="5495544"/>
            <a:ext cx="20116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JAC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38544" y="5495544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88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27264" y="5495544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402 827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41664" y="5495544"/>
            <a:ext cx="548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4.37%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480560" y="5833872"/>
            <a:ext cx="48463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480560" y="5833872"/>
            <a:ext cx="54864" cy="347472"/>
          </a:xfrm>
          <a:prstGeom prst="rect">
            <a:avLst/>
          </a:prstGeom>
          <a:solidFill>
            <a:srgbClr val="006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35424" y="5879592"/>
            <a:ext cx="20116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JETOUR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38544" y="5879592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343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27264" y="5879592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496 013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41664" y="5879592"/>
            <a:ext cx="548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4.73%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480560" y="6217920"/>
            <a:ext cx="4846320" cy="347472"/>
          </a:xfrm>
          <a:prstGeom prst="rect">
            <a:avLst/>
          </a:prstGeom>
          <a:solidFill>
            <a:srgbClr val="F3F6FA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480560" y="6217920"/>
            <a:ext cx="54864" cy="347472"/>
          </a:xfrm>
          <a:prstGeom prst="rect">
            <a:avLst/>
          </a:prstGeom>
          <a:solidFill>
            <a:srgbClr val="3A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35424" y="6263640"/>
            <a:ext cx="20116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Skoda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38544" y="6263640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27264" y="6263640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538 477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741664" y="6263640"/>
            <a:ext cx="548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2.18%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480560" y="6601968"/>
            <a:ext cx="48463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480560" y="6601968"/>
            <a:ext cx="54864" cy="347472"/>
          </a:xfrm>
          <a:prstGeom prst="rect">
            <a:avLst/>
          </a:prstGeom>
          <a:solidFill>
            <a:srgbClr val="8B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35424" y="6647688"/>
            <a:ext cx="20116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>Soueast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638544" y="6647688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827264" y="6647688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559 650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741664" y="6647688"/>
            <a:ext cx="548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3.52%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73152" cy="43891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B900"/>
                </a:solidFill>
                <a:latin typeface="Calibri"/>
              </a:rPr>
              <a:t>КЛЮЧЕВЫЕ ВЫВОДЫ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АПРЕЛЬ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77440"/>
            <a:ext cx="10515600" cy="3657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42032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B900"/>
                </a:solidFill>
                <a:latin typeface="Calibri"/>
              </a:rPr>
              <a:t>🚗  Итого:  </a:t>
            </a:r>
            <a:r>
              <a:rPr sz="1400" b="0">
                <a:solidFill>
                  <a:srgbClr val="FFFFFF"/>
                </a:solidFill>
                <a:latin typeface="Calibri"/>
              </a:rPr>
              <a:t>2 629 авто продано | Маржа к получению: 1 068 млн 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63239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B900"/>
                </a:solidFill>
                <a:latin typeface="Calibri"/>
              </a:rPr>
              <a:t>🏆  Лидер по объёму:  </a:t>
            </a:r>
            <a:r>
              <a:rPr sz="1400" b="0">
                <a:solidFill>
                  <a:srgbClr val="FFFFFF"/>
                </a:solidFill>
                <a:latin typeface="Calibri"/>
              </a:rPr>
              <a:t>Chevrolet — 1 787 авто (68% всех продаж)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8444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B900"/>
                </a:solidFill>
                <a:latin typeface="Calibri"/>
              </a:rPr>
              <a:t>💎  Лидер по ср. марже:  </a:t>
            </a:r>
            <a:r>
              <a:rPr sz="1400" b="0">
                <a:solidFill>
                  <a:srgbClr val="FFFFFF"/>
                </a:solidFill>
                <a:latin typeface="Calibri"/>
              </a:rPr>
              <a:t>KIA — 632 360 ₸/авто (4.49%) | 324.9 млн к получению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05656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B900"/>
                </a:solidFill>
                <a:latin typeface="Calibri"/>
              </a:rPr>
              <a:t>📈  Лидер по % маржи:  </a:t>
            </a:r>
            <a:r>
              <a:rPr sz="1400" b="0">
                <a:solidFill>
                  <a:srgbClr val="FFFFFF"/>
                </a:solidFill>
                <a:latin typeface="Calibri"/>
              </a:rPr>
              <a:t>JETOUR — 4.73% | Топ модели: T1 (5.89%), T2 (5.49%)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26864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B900"/>
                </a:solidFill>
                <a:latin typeface="Calibri"/>
              </a:rPr>
              <a:t>📊  JAC:  </a:t>
            </a:r>
            <a:r>
              <a:rPr sz="1400" b="0">
                <a:solidFill>
                  <a:srgbClr val="FFFFFF"/>
                </a:solidFill>
                <a:latin typeface="Calibri"/>
              </a:rPr>
              <a:t>88 авто, 4.37% — стабильный результат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148071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B900"/>
                </a:solidFill>
                <a:latin typeface="Calibri"/>
              </a:rPr>
              <a:t>🆕  Новые бренды:  </a:t>
            </a:r>
            <a:r>
              <a:rPr sz="1400" b="0">
                <a:solidFill>
                  <a:srgbClr val="FFFFFF"/>
                </a:solidFill>
                <a:latin typeface="Calibri"/>
              </a:rPr>
              <a:t>Skoda (3 авто, 2.18%) + Soueast (2 авто, 3.52%)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669279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B900"/>
                </a:solidFill>
                <a:latin typeface="Calibri"/>
              </a:rPr>
              <a:t>📅  Динамика:  </a:t>
            </a:r>
            <a:r>
              <a:rPr sz="1400" b="0">
                <a:solidFill>
                  <a:srgbClr val="FFFFFF"/>
                </a:solidFill>
                <a:latin typeface="Calibri"/>
              </a:rPr>
              <a:t>Апрель 2026 &gt; апреля 2025 на 35% по кол-ву авто (2629 vs 1947)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