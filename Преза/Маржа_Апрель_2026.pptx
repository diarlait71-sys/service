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64008" cy="2926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C000"/>
                </a:solidFill>
                <a:latin typeface="Calibri"/>
              </a:rPr>
              <a:t>DCG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МАРЖА АПРЕЛЬ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8E8"/>
                </a:solidFill>
                <a:latin typeface="Calibri"/>
              </a:rPr>
              <a:t>Анализ маржинальности по брендам и дилерским центрам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  <a:latin typeface="Calibri"/>
              </a:rPr>
              <a:t>Апрель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ИТОГИ АПРЕЛЯ 2026 — СВОДНАЯ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88720"/>
            <a:ext cx="11795760" cy="6583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344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Бренд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3444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Кол-во авто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23444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Ср. маржа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34440"/>
            <a:ext cx="2468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Маржа всего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23444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ДО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234440"/>
            <a:ext cx="2103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К получению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847088"/>
            <a:ext cx="11795760" cy="6217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920240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  <a:latin typeface="Calibri"/>
              </a:rPr>
              <a:t>KIA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920240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463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920240"/>
            <a:ext cx="1920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605 417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920240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280.3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84.1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2103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364.4 млн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05456"/>
            <a:ext cx="11795760" cy="62179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2578608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  <a:latin typeface="Calibri"/>
              </a:rPr>
              <a:t>Chevrolet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578608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858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78608"/>
            <a:ext cx="1920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264 234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578608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226.7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78608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0.9 млн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578608"/>
            <a:ext cx="2103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227.7 млн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163824"/>
            <a:ext cx="11795760" cy="621792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3236976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  <a:latin typeface="Calibri"/>
              </a:rPr>
              <a:t>JAC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236976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190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236976"/>
            <a:ext cx="1920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578 659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236976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109.9 млн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36976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2.5 млн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236976"/>
            <a:ext cx="2103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112.5 млн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822191"/>
            <a:ext cx="11795760" cy="621792"/>
          </a:xfrm>
          <a:prstGeom prst="rect">
            <a:avLst/>
          </a:prstGeom>
          <a:solidFill>
            <a:srgbClr val="E8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3895344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2B55"/>
                </a:solidFill>
                <a:latin typeface="Calibri"/>
              </a:rPr>
              <a:t>JETOUR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895344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436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895344"/>
            <a:ext cx="1920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659 702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3895344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287.6 млн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895344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4.0 млн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3895344"/>
            <a:ext cx="2103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D2B55"/>
                </a:solidFill>
                <a:latin typeface="Calibri"/>
              </a:rPr>
              <a:t>291.6 млн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480559"/>
            <a:ext cx="11795760" cy="621792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45537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000"/>
                </a:solidFill>
                <a:latin typeface="Calibri"/>
              </a:rPr>
              <a:t>ИТОГО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4553712"/>
            <a:ext cx="18288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000"/>
                </a:solidFill>
                <a:latin typeface="Calibri"/>
              </a:rPr>
              <a:t>1 947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4553712"/>
            <a:ext cx="19202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000"/>
                </a:solidFill>
                <a:latin typeface="Calibri"/>
              </a:rPr>
              <a:t>464 610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4553712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000"/>
                </a:solidFill>
                <a:latin typeface="Calibri"/>
              </a:rPr>
              <a:t>904.6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553712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000"/>
                </a:solidFill>
                <a:latin typeface="Calibri"/>
              </a:rPr>
              <a:t>91.5 млн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4553712"/>
            <a:ext cx="21031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000"/>
                </a:solidFill>
                <a:latin typeface="Calibri"/>
              </a:rPr>
              <a:t>996.1 млн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669280"/>
            <a:ext cx="274320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669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C000"/>
                </a:solidFill>
                <a:latin typeface="Calibri"/>
              </a:rPr>
              <a:t>1 947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126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авто продано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5669280"/>
            <a:ext cx="274320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5669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C000"/>
                </a:solidFill>
                <a:latin typeface="Calibri"/>
              </a:rPr>
              <a:t>905 млн 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6126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маржа всего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26480" y="5669280"/>
            <a:ext cx="274320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26480" y="5669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C000"/>
                </a:solidFill>
                <a:latin typeface="Calibri"/>
              </a:rPr>
              <a:t>91.5 млн 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0" y="6126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доп. оборудование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5669280"/>
            <a:ext cx="274320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5669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C000"/>
                </a:solidFill>
                <a:latin typeface="Calibri"/>
              </a:rPr>
              <a:t>996 млн 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6126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к получению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KIA — АНАЛИЗ ПО ДИЛЕРСКИМ ЦЕНТРАМ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164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000"/>
                </a:solidFill>
                <a:latin typeface="Calibri"/>
              </a:rPr>
              <a:t>Апрель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11887200" cy="557784"/>
          </a:xfrm>
          <a:prstGeom prst="rect">
            <a:avLst/>
          </a:prstGeom>
          <a:solidFill>
            <a:srgbClr val="05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188720"/>
            <a:ext cx="31546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Дилерский центр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137160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1188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РРЦ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11887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88720"/>
            <a:ext cx="10972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Скидка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188720"/>
            <a:ext cx="128016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М. после скидок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188720"/>
            <a:ext cx="10972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1188720"/>
            <a:ext cx="10058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 маржа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1188720"/>
            <a:ext cx="64008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1700784"/>
            <a:ext cx="11887200" cy="52120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" y="1764792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Актау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76479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76479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14.1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176479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12.6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1764792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0.4 млн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764792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12.2 млн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764792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2.9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1764792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679 219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1764792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2258568"/>
            <a:ext cx="118872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" y="2322575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Алматы Qulja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2322575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2322575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14.7 млн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322575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42.0 млн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322575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7.0 млн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322575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35.0 млн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322575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8.3 млн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322575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614 007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2322575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816352"/>
            <a:ext cx="11887200" cy="52120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2880360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Шымкент ONTUSTIK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2880360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88036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14.0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0" y="288036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85.4 млн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880360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0.2 млн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88036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85.1 млн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880360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29.1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2880360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681 154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2880360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4.9%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3374136"/>
            <a:ext cx="118872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3438144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Алматы ALMATY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3438144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43814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13.8 млн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0" y="343814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35.6 млн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3438144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2.0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3438144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33.6 млн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3438144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6.0 млн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3438144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569 750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521440" y="3438144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3931920"/>
            <a:ext cx="11887200" cy="52120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" y="3995928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Тараз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3995928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3995928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13.9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60" y="3995928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14.2 млн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995928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0.6 млн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3995928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13.6 млн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995928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7.7 млн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3995928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592 709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21440" y="3995928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4.3%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" y="4489704"/>
            <a:ext cx="118872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7160" y="4553712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Астана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91840" y="455371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63440" y="455371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14.4 млн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52160" y="455371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41.0 млн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40880" y="4553712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0.3 млн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553712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40.7 млн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418320" y="4553712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8.7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4553712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625 837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521440" y="4553712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160" y="5047488"/>
            <a:ext cx="11887200" cy="52120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" y="5111496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Усть-Каменогорск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91840" y="5111496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63440" y="5111496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13.3 млн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52160" y="5111496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20.0 млн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0880" y="5111496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1.8 млн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138160" y="5111496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18.2 млн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18320" y="5111496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4.1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15600" y="5111496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536 531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521440" y="5111496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5605272"/>
            <a:ext cx="1188720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" y="5669280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Павлодар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5669280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566928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14.0 млн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52160" y="566928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19.5 млн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80" y="5669280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38160" y="5669280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19.5 млн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418320" y="5669280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5669280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720 948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521440" y="5669280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5.2%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" y="6163056"/>
            <a:ext cx="11887200" cy="521207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7160" y="6227064"/>
            <a:ext cx="31546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91840" y="6227064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408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3440" y="622706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14.1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852160" y="622706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270.3 млн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40880" y="6227064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12.3 млн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138160" y="6227064"/>
            <a:ext cx="12801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258.0 млн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18320" y="6227064"/>
            <a:ext cx="1097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66.9 млн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15600" y="6227064"/>
            <a:ext cx="10058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632 361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521440" y="6227064"/>
            <a:ext cx="6400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KIA — АНАЛИЗ ПО МОДЕЛЯМ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64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000"/>
                </a:solidFill>
                <a:latin typeface="Calibri"/>
              </a:rPr>
              <a:t>Апрель 2026 | 408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11795760" cy="393192"/>
          </a:xfrm>
          <a:prstGeom prst="rect">
            <a:avLst/>
          </a:prstGeom>
          <a:solidFill>
            <a:srgbClr val="05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1704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1704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704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РРЦ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704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Ср. 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1704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Доля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1704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% авто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536192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5727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Carnival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572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72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24.3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1 234 417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5727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5727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929384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Ceed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9.9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437 642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322576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2359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Ceed SW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23591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11.4 млн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512 550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3591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359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2715768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275234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Cerato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7523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2752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10.4 млн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7523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382 550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7523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3.7%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11.8%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108960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" y="31455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K5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3145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1455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13.5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1455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675 655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14553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31455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22.3%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3502152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3538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K8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3538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35387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26.5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3538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1 721 850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3538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6.5%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538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3895344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931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Seltos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3931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3931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12.5 млн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558 340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3931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82880" y="4288536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" y="43251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Soluto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17520" y="43251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43251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7.4 млн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298 947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3251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4325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9.3%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681728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2880" y="47183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Sorento 2025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7520" y="47183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47183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18.8 млн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0" y="47183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743 283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471830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01200" y="47183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14.9%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5074920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2880" y="51114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Sorento 2026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17520" y="51114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0" y="51114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22.4 млн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5111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1 123 314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51114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5.0%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5111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82880" y="5468112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82880" y="5504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Soul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17520" y="5504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0" y="55046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12.0 млн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5504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540 675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46720" y="550468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01200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1.0%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82880" y="5861304"/>
            <a:ext cx="1179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82880" y="5897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Sportage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017520" y="5897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5897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16.0 млн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788 217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46720" y="5897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4.9%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6012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22.8%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82880" y="6254496"/>
            <a:ext cx="117957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2880" y="6291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Sportage comfort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17520" y="62910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0" y="6291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12.8 млн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217920" y="6291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371 200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46720" y="62910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2.9%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01200" y="62910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3.9%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6647688"/>
            <a:ext cx="11795760" cy="365760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2880" y="66842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17520" y="66842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408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00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14.1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17920" y="66842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632 361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46720" y="668426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01200" y="66842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100.0%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CHEVROLET — АНАЛИЗ ПО ДИЛЕРАМ И МОДЕЛЯМ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164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000"/>
                </a:solidFill>
                <a:latin typeface="Calibri"/>
              </a:rPr>
              <a:t>Апрель 2026 | 1 787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6858000" cy="411480"/>
          </a:xfrm>
          <a:prstGeom prst="rect">
            <a:avLst/>
          </a:prstGeom>
          <a:solidFill>
            <a:srgbClr val="D4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161288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Дилерские центры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1554480"/>
            <a:ext cx="6949440" cy="374904"/>
          </a:xfrm>
          <a:prstGeom prst="rect">
            <a:avLst/>
          </a:prstGeom>
          <a:solidFill>
            <a:srgbClr val="A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8191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58191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58191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58191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581912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929384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1965960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Актау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965960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965960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20.7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965960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227 473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2304288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2340864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Атырау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340864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2340864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17.1 млн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340864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237 500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340864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2679191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2715768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Алматы 1159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2715768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2715768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1.2 млн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715768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300 000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715768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3054096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3090672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119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3090672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375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3090672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82.3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3090672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219 573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090672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3429000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" y="3465576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Алматы Zhetysu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3465576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3465576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17.4 млн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3465576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242 361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465576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3.3%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" y="3803904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3840480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Тараз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3840480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3840480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25.9 млн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3840480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219 915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840480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" y="4178807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82880" y="4215383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Астана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0" y="4215383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23360" y="4215383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29.0 млн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4215383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268 519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215383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4553712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4590288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Усть-Каменогорск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4590288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4590288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29.5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4590288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226 923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4590288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3.7%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4928616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82880" y="4965192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Павлодар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34640" y="4965192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23360" y="4965192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23.1 млн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4965192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245 745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4965192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3.7%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" y="5303520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82880" y="5340096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Уральск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5340096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23360" y="5340096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29.1 млн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0" y="5340096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234 274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0" y="5340096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3.8%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" y="5678424"/>
            <a:ext cx="694944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2880" y="5715000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Кызылорда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34640" y="5715000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23360" y="5715000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28.7 млн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3520" y="5715000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220 769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5715000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" y="6053328"/>
            <a:ext cx="6949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2880" y="6089904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935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34640" y="6089904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469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23360" y="6089904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108.0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03520" y="6089904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230 362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0" y="6089904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3.5%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6428232"/>
            <a:ext cx="6949440" cy="34747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2880" y="6464808"/>
            <a:ext cx="26517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34640" y="6464808"/>
            <a:ext cx="11887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1787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23360" y="6464808"/>
            <a:ext cx="1280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412.1 млн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03520" y="6464808"/>
            <a:ext cx="10972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230 627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0" y="6464808"/>
            <a:ext cx="64008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315200" y="1143000"/>
            <a:ext cx="4709160" cy="411480"/>
          </a:xfrm>
          <a:prstGeom prst="rect">
            <a:avLst/>
          </a:prstGeom>
          <a:solidFill>
            <a:srgbClr val="D4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60920" y="11612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По моделям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15200" y="1554480"/>
            <a:ext cx="4709160" cy="374904"/>
          </a:xfrm>
          <a:prstGeom prst="rect">
            <a:avLst/>
          </a:prstGeom>
          <a:solidFill>
            <a:srgbClr val="AA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60920" y="158191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06840" y="1581912"/>
            <a:ext cx="1051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058400" y="1581912"/>
            <a:ext cx="914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158191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704320" y="1581912"/>
            <a:ext cx="594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авт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0" y="1929384"/>
            <a:ext cx="470916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60920" y="1965960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Cobalt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06840" y="1965960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1748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58400" y="1965960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223 587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72800" y="1965960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704320" y="1965960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97.8%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15200" y="2304288"/>
            <a:ext cx="4709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60920" y="2340864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Labo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06840" y="2340864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58400" y="2340864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200 000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0" y="2340864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704320" y="2340864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0.2%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00" y="2679191"/>
            <a:ext cx="470916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60920" y="2715768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Onix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06840" y="2715768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2715768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330 435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72800" y="2715768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4.3%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704320" y="2715768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1.3%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15200" y="3054096"/>
            <a:ext cx="470916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60920" y="3090672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Tahoe MY25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06840" y="3090672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058400" y="3090672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1 118 182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972800" y="3090672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2.2%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704320" y="3090672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0.6%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315200" y="3429000"/>
            <a:ext cx="470916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60920" y="3465576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Tracker MY22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06840" y="3465576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058400" y="3465576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400 000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972800" y="3465576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3.8%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704320" y="3465576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0.1%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315200" y="3803904"/>
            <a:ext cx="4709160" cy="34747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60920" y="3840480"/>
            <a:ext cx="16459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06840" y="3840480"/>
            <a:ext cx="10515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1787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058400" y="3840480"/>
            <a:ext cx="91440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230 627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972800" y="3840480"/>
            <a:ext cx="73152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704320" y="3840480"/>
            <a:ext cx="5943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100.0%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JAC — АНАЛИЗ ПО ДИЛЕРАМ И МОДЕЛЯМ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000"/>
                </a:solidFill>
                <a:latin typeface="Calibri"/>
              </a:rPr>
              <a:t>Апрель 2026 | 88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9235440" cy="420624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170432"/>
            <a:ext cx="3337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7043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704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РРЦ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17043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170432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170432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117043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563624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600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Baidybek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002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600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9.8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02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2.3 млн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00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6.5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002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466 843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600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984248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202082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Тараз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020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0208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11.9 млн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020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208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1.0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0208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475 600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0208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404872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24414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Актау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441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10.9 млн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441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1.6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44144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520 200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244144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2825496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2862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Атырау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28620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862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10.4 млн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28620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8620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2.2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8620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446 440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2862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3246120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328269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ONTUSTIK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2826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8.4 млн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0.5 млн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2826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3.4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28269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306 000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3282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3666744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" y="37033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Усть-Каменогорск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3703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703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9.2 млн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703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2.4 млн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3703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5.1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70332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423 733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37033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4087368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412394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Темирлановское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123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7.6 млн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1.2 млн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1239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2.1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12394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303 600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41239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4507992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Астана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4720" y="4544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3440" y="4544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9.2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0" y="4544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2.1 млн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45445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4.6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445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383 200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0" y="45445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4.2%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4928616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" y="4965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Павлодар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49651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9.7 млн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0.5 млн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4965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4.2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96519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465 778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78240" y="49651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5349240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" y="538581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Кызылорда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0" y="53858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53858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8.4 млн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53858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0.2 млн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3858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2.0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5279" y="5385816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334 933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778240" y="53858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5769864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7160" y="58064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Уральск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74720" y="5806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63440" y="5806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8.8 млн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0" y="5806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0.4 млн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0" y="5806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2.8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5279" y="58064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399 000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78240" y="580644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7160" y="6190488"/>
            <a:ext cx="9235440" cy="39319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" y="62270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74720" y="6227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88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3440" y="62270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9.2 млн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0" y="6227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9.6 млн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0" y="6227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35.4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55279" y="62270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402 827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778240" y="62270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509760" y="1143000"/>
            <a:ext cx="2514600" cy="420624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509760" y="11704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15600" y="1170432"/>
            <a:ext cx="731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247120" y="1170432"/>
            <a:ext cx="5486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795760" y="1170432"/>
            <a:ext cx="457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авт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09760" y="1563624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1600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J7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15600" y="16002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247120" y="160020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795760" y="16002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20.4%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509760" y="1984248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509760" y="20208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J7 PLUS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15600" y="202082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47120" y="202082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795760" y="2020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2.3%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09760" y="2404872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9760" y="2441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JS4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15600" y="244144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247120" y="24414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795760" y="24414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5.7%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09760" y="2825496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09760" y="2862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JS8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15600" y="286207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247120" y="286207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795760" y="28620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09760" y="3246120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09760" y="32826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S3 Pro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15600" y="3282696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47120" y="328269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795760" y="32826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45.5%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509760" y="3666744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509760" y="3703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T6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15600" y="37033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247120" y="37033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4.2%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795760" y="3703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5.7%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09760" y="4087368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509760" y="4123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T8 Pro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0" y="4123944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247120" y="41239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5.3%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795760" y="41239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2.3%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509760" y="4507992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09760" y="4544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T9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5600" y="454456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247120" y="45445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5.6%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795760" y="45445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10.2%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509760" y="4928616"/>
            <a:ext cx="2514600" cy="39319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509760" y="49651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515600" y="496519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88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247120" y="49651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795760" y="4965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100.0%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JETOUR — АНАЛИЗ ПО ДИЛЕРАМ И МОДЕЛЯМ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645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000"/>
                </a:solidFill>
                <a:latin typeface="Calibri"/>
              </a:rPr>
              <a:t>Апрель 2026 | 343 авто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" y="1143000"/>
            <a:ext cx="9235440" cy="42062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170432"/>
            <a:ext cx="3337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17043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7043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РРЦ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170432"/>
            <a:ext cx="11887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Доп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170432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170432"/>
            <a:ext cx="8686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Ср.маржа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17043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563624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6002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Алматы Alatau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002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60020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11.3 млн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16002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1.2 млн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600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12.9 млн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6002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495 850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600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1984248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" y="202082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Актау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020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0208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12.2 млн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202082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2.5 млн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0208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20.3 млн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02082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634 025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0208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404872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24414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Атырау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2441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9.0 млн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4414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5.4 млн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4414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12.6 млн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44144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369 285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44144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2825496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" y="286207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Алматы Zhetysu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28620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286207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11.4 млн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286207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0.0 млн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86207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17.1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8620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552 371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2862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" y="3246120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" y="328269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Усть-Каменогорск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32826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10.2 млн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2.8 млн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28269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25.7 млн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328269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513 714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3282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3666744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7160" y="37033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Ontustik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3703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3703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11.1 млн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703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2.2 млн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3703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16.5 млн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70332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499 097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23960" y="37033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" y="4087368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412394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Павлодар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63440" y="412394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9.6 млн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0" y="412394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0.2 млн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12394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12.9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412394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443 338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23960" y="41239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4.6%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" y="4507992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37160" y="45445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Кызылорда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74720" y="4544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63440" y="454456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9.5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0" y="454456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1.4 млн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0" y="45445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9.4 млн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5279" y="454456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428 186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45445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" y="4928616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" y="496519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Тараз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7472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49651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9.9 млн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49651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1.2 млн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0" y="49651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3.8 млн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5279" y="496519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472 025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23960" y="49651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" y="5349240"/>
            <a:ext cx="92354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37160" y="538581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Шымкент Baidybek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74720" y="53858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53858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11.8 млн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0" y="53858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2.0 млн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0" y="538581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16.7 млн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5279" y="53858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574 697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823960" y="538581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4.9%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37160" y="5769864"/>
            <a:ext cx="923544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37160" y="58064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Уральск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74720" y="5806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49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63440" y="580644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9.6 млн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0" y="5806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1.0 млн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0" y="58064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22.4 млн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55279" y="58064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457 084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823960" y="580644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7160" y="6190488"/>
            <a:ext cx="9235440" cy="39319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" y="62270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74720" y="6227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343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63440" y="62270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10.5 млн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0" y="62270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20.1 млн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0" y="62270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170.1 млн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55279" y="622706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496 013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23960" y="622706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4.7%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509760" y="1143000"/>
            <a:ext cx="2514600" cy="420624"/>
          </a:xfrm>
          <a:prstGeom prst="rect">
            <a:avLst/>
          </a:prstGeom>
          <a:solidFill>
            <a:srgbClr val="007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509760" y="1170432"/>
            <a:ext cx="1051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Модель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61320" y="117043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155680" y="1170432"/>
            <a:ext cx="594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750040" y="1170432"/>
            <a:ext cx="457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 авт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09760" y="1563624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160020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Dashing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61320" y="1600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1155680" y="1600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3.6%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750040" y="160020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2.6%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509760" y="1984248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509760" y="202082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T1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561320" y="20208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155680" y="202082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5.9%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750040" y="202082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8.8%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09760" y="2404872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9760" y="244144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T2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561320" y="244144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155680" y="244144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750040" y="244144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8.4%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09760" y="2825496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09760" y="286207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X50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61320" y="2862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84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155680" y="28620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3.9%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750040" y="286207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24.5%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09760" y="3246120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09760" y="328269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X70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561320" y="3282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155680" y="3282696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750040" y="328269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0.3%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509760" y="3666744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509760" y="37033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X70FL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561320" y="37033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125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155680" y="37033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4.8%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750040" y="3703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36.4%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509760" y="4087368"/>
            <a:ext cx="2514600" cy="3931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509760" y="412394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X70Plus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61320" y="41239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155680" y="4123944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4.4%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750040" y="412394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14.3%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509760" y="4507992"/>
            <a:ext cx="25146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09760" y="454456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X90Plus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61320" y="45445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1155680" y="45445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750040" y="454456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4.7%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509760" y="4928616"/>
            <a:ext cx="2514600" cy="393192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509760" y="496519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561320" y="49651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343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155680" y="496519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4.7%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750040" y="496519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100.0%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SKODA + ДИНАМИКА ПО МЕСЯЦАМ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1143000"/>
            <a:ext cx="41148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161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SKODA — Апрель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1508760"/>
            <a:ext cx="41148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27048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Дилер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5270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2704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527048"/>
            <a:ext cx="548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Ср.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27048"/>
            <a:ext cx="45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" y="1856231"/>
            <a:ext cx="41148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18928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Усть-Каменогорск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89280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92807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24.7 млн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9280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465 430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1892807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1.9%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" y="2203704"/>
            <a:ext cx="4114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2240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2B55"/>
                </a:solidFill>
                <a:latin typeface="Calibri"/>
              </a:rPr>
              <a:t>Атырау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24.7 млн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240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575 000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240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2B55"/>
                </a:solidFill>
                <a:latin typeface="Calibri"/>
              </a:rPr>
              <a:t>2.3%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2551176"/>
            <a:ext cx="4114800" cy="320040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2587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2B55"/>
                </a:solidFill>
                <a:latin typeface="Calibri"/>
              </a:rPr>
              <a:t>ИТОГО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25877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5877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24.7 млн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58775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538 477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25877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D2B55"/>
                </a:solidFill>
                <a:latin typeface="Calibri"/>
              </a:rPr>
              <a:t>2.2%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Модель: Kodiaq NG | 3 авто | Ср. маржа: 538 477 ₸ | 2.18%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1143000"/>
            <a:ext cx="74523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116128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ДИНАМИКА ПО МЕСЯЦАМ — ТОТАЛ (кол-во авто / маржа млн ₸)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1508760"/>
            <a:ext cx="7452360" cy="4023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1536192"/>
            <a:ext cx="21488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Месяц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1536192"/>
            <a:ext cx="118872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Кол-во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1536192"/>
            <a:ext cx="10972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Маржа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1536192"/>
            <a:ext cx="12801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ДО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1536192"/>
            <a:ext cx="1691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К получению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1911095"/>
            <a:ext cx="7452360" cy="374904"/>
          </a:xfrm>
          <a:prstGeom prst="rect">
            <a:avLst/>
          </a:prstGeom>
          <a:solidFill>
            <a:srgbClr val="FFF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17720" y="194767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2B55"/>
                </a:solidFill>
                <a:latin typeface="Calibri"/>
              </a:rPr>
              <a:t>Апрель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19476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1947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19476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904.6 млн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194767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91.5 млн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20" y="194767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2B55"/>
                </a:solidFill>
                <a:latin typeface="Calibri"/>
              </a:rPr>
              <a:t>996.1 млн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2313432"/>
            <a:ext cx="74523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235000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Май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23500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1836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23500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784.7 млн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23500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69.2 млн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35000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853.9 млн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2715768"/>
            <a:ext cx="745236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275234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Июнь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0" y="275234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2006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275234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840.1 млн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275234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72.3 млн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2752344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912.4 млн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0" y="3118104"/>
            <a:ext cx="74523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17720" y="3154680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Июль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66560" y="315468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2391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15468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869.8 млн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31546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202.1 млн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3154680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1071.8 млн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0" y="3520440"/>
            <a:ext cx="745236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3557016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Август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355701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1772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355701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693.7 млн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3557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156.8 млн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0" y="3557016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850.5 млн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0" y="3922776"/>
            <a:ext cx="745236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17720" y="395935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Сентябрь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0" y="395935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1835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395935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764.8 млн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0" y="39593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200.7 млн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32720" y="3959352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965.5 млн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0" y="4325112"/>
            <a:ext cx="7452360" cy="3749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17720" y="4361688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2B55"/>
                </a:solidFill>
                <a:latin typeface="Calibri"/>
              </a:rPr>
              <a:t>Октябрь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66560" y="436168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1983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55279" y="436168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839.1 млн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0" y="436168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232.2 млн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32720" y="4361688"/>
            <a:ext cx="1691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D2B55"/>
                </a:solidFill>
                <a:latin typeface="Calibri"/>
              </a:rPr>
              <a:t>1071.4 млн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64008" cy="3657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C000"/>
                </a:solidFill>
                <a:latin typeface="Calibri"/>
              </a:rPr>
              <a:t>КЛЮЧЕВЫЕ 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АПРЕЛЬ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🚗  1 947 авто продано | Маржа к получению: 996 млн 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📊  KIA — лидер по средней марже: 605 000 ₸/авто | 364 млн 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⭐  JETOUR — высший % маржи: 4.73% | 291 млн 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📈  Chevrolet — наибольший объём продаж: 1 787 авто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💰  JAC — 88 авто | 112 млн ₸ к получению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🏆  ДО (допоборудование): 91.5 млн ₸ дополнительный доход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